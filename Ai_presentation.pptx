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JetBrains Mono Bold" charset="1" panose="02010809030102050004"/>
      <p:regular r:id="rId25"/>
    </p:embeddedFont>
    <p:embeddedFont>
      <p:font typeface="JetBrains Mono Medium" charset="1" panose="02010609020102050004"/>
      <p:regular r:id="rId26"/>
    </p:embeddedFont>
    <p:embeddedFont>
      <p:font typeface="JetBrains Mono" charset="1" panose="02010509020102050004"/>
      <p:regular r:id="rId27"/>
    </p:embeddedFont>
    <p:embeddedFont>
      <p:font typeface="Canva Sans Bold" charset="1" panose="020B08030305010401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30.png" Type="http://schemas.openxmlformats.org/officeDocument/2006/relationships/image"/><Relationship Id="rId17" Target="../media/image31.svg" Type="http://schemas.openxmlformats.org/officeDocument/2006/relationships/image"/><Relationship Id="rId18" Target="../media/image10.png" Type="http://schemas.openxmlformats.org/officeDocument/2006/relationships/image"/><Relationship Id="rId19"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jpeg" Type="http://schemas.openxmlformats.org/officeDocument/2006/relationships/image"/><Relationship Id="rId5" Target="../media/image35.png" Type="http://schemas.openxmlformats.org/officeDocument/2006/relationships/image"/><Relationship Id="rId6" Target="../media/image36.jpe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39.png" Type="http://schemas.openxmlformats.org/officeDocument/2006/relationships/image"/><Relationship Id="rId20" Target="../media/image45.png" Type="http://schemas.openxmlformats.org/officeDocument/2006/relationships/image"/><Relationship Id="rId21" Target="../media/image46.svg" Type="http://schemas.openxmlformats.org/officeDocument/2006/relationships/image"/><Relationship Id="rId3" Target="../media/image4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 Id="rId4" Target="../media/image49.pn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59.png" Type="http://schemas.openxmlformats.org/officeDocument/2006/relationships/image"/><Relationship Id="rId7" Target="../media/image60.svg" Type="http://schemas.openxmlformats.org/officeDocument/2006/relationships/image"/><Relationship Id="rId8" Target="../media/image6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HKBUaQO8Y.mp4" Type="http://schemas.microsoft.com/office/2007/relationships/media"/><Relationship Id="rId2" Target="../media/image1.png" Type="http://schemas.openxmlformats.org/officeDocument/2006/relationships/image"/><Relationship Id="rId3" Target="../media/image2.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jpeg" Type="http://schemas.openxmlformats.org/officeDocument/2006/relationships/image"/><Relationship Id="rId9" Target="../media/VAHKBUaQO8Y.mp4" Type="http://schemas.openxmlformats.org/officeDocument/2006/relationships/video"/></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1.png" Type="http://schemas.openxmlformats.org/officeDocument/2006/relationships/image"/><Relationship Id="rId11" Target="../media/image7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69.png" Type="http://schemas.openxmlformats.org/officeDocument/2006/relationships/image"/><Relationship Id="rId13" Target="../media/image7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svg" Type="http://schemas.openxmlformats.org/officeDocument/2006/relationships/image"/><Relationship Id="rId4" Target="../media/image75.png" Type="http://schemas.openxmlformats.org/officeDocument/2006/relationships/image"/><Relationship Id="rId5" Target="../embeddings/oleObject1.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7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722404" y="-1413548"/>
            <a:ext cx="6294149" cy="4114800"/>
          </a:xfrm>
          <a:custGeom>
            <a:avLst/>
            <a:gdLst/>
            <a:ahLst/>
            <a:cxnLst/>
            <a:rect r="r" b="b" t="t" l="l"/>
            <a:pathLst>
              <a:path h="4114800" w="6294149">
                <a:moveTo>
                  <a:pt x="0" y="0"/>
                </a:moveTo>
                <a:lnTo>
                  <a:pt x="6294149" y="0"/>
                </a:lnTo>
                <a:lnTo>
                  <a:pt x="629414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71591" y="6664510"/>
            <a:ext cx="1516409" cy="4379521"/>
          </a:xfrm>
          <a:custGeom>
            <a:avLst/>
            <a:gdLst/>
            <a:ahLst/>
            <a:cxnLst/>
            <a:rect r="r" b="b" t="t" l="l"/>
            <a:pathLst>
              <a:path h="4379521" w="1516409">
                <a:moveTo>
                  <a:pt x="0" y="0"/>
                </a:moveTo>
                <a:lnTo>
                  <a:pt x="1516409" y="0"/>
                </a:lnTo>
                <a:lnTo>
                  <a:pt x="1516409" y="4379520"/>
                </a:lnTo>
                <a:lnTo>
                  <a:pt x="0" y="4379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798309" y="7200900"/>
            <a:ext cx="2712339" cy="4114800"/>
          </a:xfrm>
          <a:custGeom>
            <a:avLst/>
            <a:gdLst/>
            <a:ahLst/>
            <a:cxnLst/>
            <a:rect r="r" b="b" t="t" l="l"/>
            <a:pathLst>
              <a:path h="4114800" w="2712339">
                <a:moveTo>
                  <a:pt x="0" y="0"/>
                </a:moveTo>
                <a:lnTo>
                  <a:pt x="2712339" y="0"/>
                </a:lnTo>
                <a:lnTo>
                  <a:pt x="271233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312593" y="0"/>
            <a:ext cx="8975407" cy="10287000"/>
          </a:xfrm>
          <a:custGeom>
            <a:avLst/>
            <a:gdLst/>
            <a:ahLst/>
            <a:cxnLst/>
            <a:rect r="r" b="b" t="t" l="l"/>
            <a:pathLst>
              <a:path h="10287000" w="8975407">
                <a:moveTo>
                  <a:pt x="0" y="0"/>
                </a:moveTo>
                <a:lnTo>
                  <a:pt x="8975407" y="0"/>
                </a:lnTo>
                <a:lnTo>
                  <a:pt x="8975407" y="10287000"/>
                </a:lnTo>
                <a:lnTo>
                  <a:pt x="0" y="10287000"/>
                </a:lnTo>
                <a:lnTo>
                  <a:pt x="0" y="0"/>
                </a:lnTo>
                <a:close/>
              </a:path>
            </a:pathLst>
          </a:custGeom>
          <a:blipFill>
            <a:blip r:embed="rId10"/>
            <a:stretch>
              <a:fillRect l="0" t="0" r="0" b="0"/>
            </a:stretch>
          </a:blipFill>
        </p:spPr>
      </p:sp>
      <p:sp>
        <p:nvSpPr>
          <p:cNvPr name="Freeform 8" id="8"/>
          <p:cNvSpPr/>
          <p:nvPr/>
        </p:nvSpPr>
        <p:spPr>
          <a:xfrm flipH="false" flipV="false" rot="0">
            <a:off x="-495832" y="-3797070"/>
            <a:ext cx="12323397" cy="11091058"/>
          </a:xfrm>
          <a:custGeom>
            <a:avLst/>
            <a:gdLst/>
            <a:ahLst/>
            <a:cxnLst/>
            <a:rect r="r" b="b" t="t" l="l"/>
            <a:pathLst>
              <a:path h="11091058" w="12323397">
                <a:moveTo>
                  <a:pt x="0" y="0"/>
                </a:moveTo>
                <a:lnTo>
                  <a:pt x="12323397" y="0"/>
                </a:lnTo>
                <a:lnTo>
                  <a:pt x="12323397" y="11091058"/>
                </a:lnTo>
                <a:lnTo>
                  <a:pt x="0" y="110910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679174" y="328931"/>
            <a:ext cx="11148391" cy="4814569"/>
          </a:xfrm>
          <a:prstGeom prst="rect">
            <a:avLst/>
          </a:prstGeom>
        </p:spPr>
        <p:txBody>
          <a:bodyPr anchor="t" rtlCol="false" tIns="0" lIns="0" bIns="0" rIns="0">
            <a:spAutoFit/>
          </a:bodyPr>
          <a:lstStyle/>
          <a:p>
            <a:pPr algn="l">
              <a:lnSpc>
                <a:spcPts val="12880"/>
              </a:lnSpc>
            </a:pPr>
            <a:r>
              <a:rPr lang="en-US" sz="9200" b="true">
                <a:solidFill>
                  <a:srgbClr val="FFFFFF"/>
                </a:solidFill>
                <a:latin typeface="JetBrains Mono Bold"/>
                <a:ea typeface="JetBrains Mono Bold"/>
                <a:cs typeface="JetBrains Mono Bold"/>
                <a:sym typeface="JetBrains Mono Bold"/>
              </a:rPr>
              <a:t>Smart Door lock using Facial Recognition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76635" y="4091752"/>
            <a:ext cx="3582665" cy="4690887"/>
          </a:xfrm>
          <a:custGeom>
            <a:avLst/>
            <a:gdLst/>
            <a:ahLst/>
            <a:cxnLst/>
            <a:rect r="r" b="b" t="t" l="l"/>
            <a:pathLst>
              <a:path h="4690887" w="3582665">
                <a:moveTo>
                  <a:pt x="0" y="0"/>
                </a:moveTo>
                <a:lnTo>
                  <a:pt x="3582665" y="0"/>
                </a:lnTo>
                <a:lnTo>
                  <a:pt x="3582665" y="4690887"/>
                </a:lnTo>
                <a:lnTo>
                  <a:pt x="0" y="46908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8015" y="4075401"/>
            <a:ext cx="4095297" cy="4707238"/>
          </a:xfrm>
          <a:custGeom>
            <a:avLst/>
            <a:gdLst/>
            <a:ahLst/>
            <a:cxnLst/>
            <a:rect r="r" b="b" t="t" l="l"/>
            <a:pathLst>
              <a:path h="4707238" w="4095297">
                <a:moveTo>
                  <a:pt x="0" y="0"/>
                </a:moveTo>
                <a:lnTo>
                  <a:pt x="4095297" y="0"/>
                </a:lnTo>
                <a:lnTo>
                  <a:pt x="4095297" y="4707238"/>
                </a:lnTo>
                <a:lnTo>
                  <a:pt x="0" y="4707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4083577"/>
            <a:ext cx="4465992" cy="4707238"/>
          </a:xfrm>
          <a:custGeom>
            <a:avLst/>
            <a:gdLst/>
            <a:ahLst/>
            <a:cxnLst/>
            <a:rect r="r" b="b" t="t" l="l"/>
            <a:pathLst>
              <a:path h="4707238" w="4465992">
                <a:moveTo>
                  <a:pt x="0" y="0"/>
                </a:moveTo>
                <a:lnTo>
                  <a:pt x="4465992" y="0"/>
                </a:lnTo>
                <a:lnTo>
                  <a:pt x="4465992" y="4707237"/>
                </a:lnTo>
                <a:lnTo>
                  <a:pt x="0" y="47072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369943" y="962025"/>
            <a:ext cx="15548115" cy="1862414"/>
          </a:xfrm>
          <a:prstGeom prst="rect">
            <a:avLst/>
          </a:prstGeom>
        </p:spPr>
        <p:txBody>
          <a:bodyPr anchor="t" rtlCol="false" tIns="0" lIns="0" bIns="0" rIns="0">
            <a:spAutoFit/>
          </a:bodyPr>
          <a:lstStyle/>
          <a:p>
            <a:pPr algn="ctr">
              <a:lnSpc>
                <a:spcPts val="4972"/>
              </a:lnSpc>
              <a:spcBef>
                <a:spcPct val="0"/>
              </a:spcBef>
            </a:pPr>
            <a:r>
              <a:rPr lang="en-US" b="true" sz="3551" spc="-241">
                <a:solidFill>
                  <a:srgbClr val="100F0D"/>
                </a:solidFill>
                <a:latin typeface="JetBrains Mono Medium"/>
                <a:ea typeface="JetBrains Mono Medium"/>
                <a:cs typeface="JetBrains Mono Medium"/>
                <a:sym typeface="JetBrains Mono Medium"/>
              </a:rPr>
              <a:t>Traditional security measures such as physical keys, PIN codes, and RFID cards possess inherent vulnerabilities: they can be lost, stolen, forgotten, or duplicated</a:t>
            </a:r>
          </a:p>
        </p:txBody>
      </p:sp>
      <p:sp>
        <p:nvSpPr>
          <p:cNvPr name="Freeform 6" id="6"/>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223632">
            <a:off x="-790701" y="7778924"/>
            <a:ext cx="2712339" cy="4114800"/>
          </a:xfrm>
          <a:custGeom>
            <a:avLst/>
            <a:gdLst/>
            <a:ahLst/>
            <a:cxnLst/>
            <a:rect r="r" b="b" t="t" l="l"/>
            <a:pathLst>
              <a:path h="4114800" w="2712339">
                <a:moveTo>
                  <a:pt x="0" y="0"/>
                </a:moveTo>
                <a:lnTo>
                  <a:pt x="2712339" y="0"/>
                </a:lnTo>
                <a:lnTo>
                  <a:pt x="2712339"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706869"/>
            <a:ext cx="1516409" cy="4379521"/>
          </a:xfrm>
          <a:custGeom>
            <a:avLst/>
            <a:gdLst/>
            <a:ahLst/>
            <a:cxnLst/>
            <a:rect r="r" b="b" t="t" l="l"/>
            <a:pathLst>
              <a:path h="4379521" w="1516409">
                <a:moveTo>
                  <a:pt x="0" y="0"/>
                </a:moveTo>
                <a:lnTo>
                  <a:pt x="1516409" y="0"/>
                </a:lnTo>
                <a:lnTo>
                  <a:pt x="1516409" y="4379521"/>
                </a:lnTo>
                <a:lnTo>
                  <a:pt x="0" y="43795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784290" y="3981564"/>
            <a:ext cx="3112604" cy="3112604"/>
          </a:xfrm>
          <a:custGeom>
            <a:avLst/>
            <a:gdLst/>
            <a:ahLst/>
            <a:cxnLst/>
            <a:rect r="r" b="b" t="t" l="l"/>
            <a:pathLst>
              <a:path h="3112604" w="3112604">
                <a:moveTo>
                  <a:pt x="3112604" y="0"/>
                </a:moveTo>
                <a:lnTo>
                  <a:pt x="0" y="0"/>
                </a:lnTo>
                <a:lnTo>
                  <a:pt x="0" y="3112604"/>
                </a:lnTo>
                <a:lnTo>
                  <a:pt x="3112604" y="3112604"/>
                </a:lnTo>
                <a:lnTo>
                  <a:pt x="31126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35036" y="4047002"/>
            <a:ext cx="4100945" cy="2981729"/>
          </a:xfrm>
          <a:custGeom>
            <a:avLst/>
            <a:gdLst/>
            <a:ahLst/>
            <a:cxnLst/>
            <a:rect r="r" b="b" t="t" l="l"/>
            <a:pathLst>
              <a:path h="2981729" w="4100945">
                <a:moveTo>
                  <a:pt x="0" y="0"/>
                </a:moveTo>
                <a:lnTo>
                  <a:pt x="4100944" y="0"/>
                </a:lnTo>
                <a:lnTo>
                  <a:pt x="4100944" y="2981728"/>
                </a:lnTo>
                <a:lnTo>
                  <a:pt x="0" y="29817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142534" y="6380369"/>
            <a:ext cx="2033110" cy="2585831"/>
          </a:xfrm>
          <a:custGeom>
            <a:avLst/>
            <a:gdLst/>
            <a:ahLst/>
            <a:cxnLst/>
            <a:rect r="r" b="b" t="t" l="l"/>
            <a:pathLst>
              <a:path h="2585831" w="2033110">
                <a:moveTo>
                  <a:pt x="0" y="0"/>
                </a:moveTo>
                <a:lnTo>
                  <a:pt x="2033110" y="0"/>
                </a:lnTo>
                <a:lnTo>
                  <a:pt x="2033110" y="2585831"/>
                </a:lnTo>
                <a:lnTo>
                  <a:pt x="0" y="25858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062118" y="3013479"/>
            <a:ext cx="2193943" cy="2716957"/>
          </a:xfrm>
          <a:custGeom>
            <a:avLst/>
            <a:gdLst/>
            <a:ahLst/>
            <a:cxnLst/>
            <a:rect r="r" b="b" t="t" l="l"/>
            <a:pathLst>
              <a:path h="2716957" w="2193943">
                <a:moveTo>
                  <a:pt x="0" y="0"/>
                </a:moveTo>
                <a:lnTo>
                  <a:pt x="2193942" y="0"/>
                </a:lnTo>
                <a:lnTo>
                  <a:pt x="2193942" y="2716957"/>
                </a:lnTo>
                <a:lnTo>
                  <a:pt x="0" y="271695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5158302" y="5881248"/>
            <a:ext cx="1255705" cy="353167"/>
          </a:xfrm>
          <a:custGeom>
            <a:avLst/>
            <a:gdLst/>
            <a:ahLst/>
            <a:cxnLst/>
            <a:rect r="r" b="b" t="t" l="l"/>
            <a:pathLst>
              <a:path h="353167" w="1255705">
                <a:moveTo>
                  <a:pt x="0" y="0"/>
                </a:moveTo>
                <a:lnTo>
                  <a:pt x="1255705" y="0"/>
                </a:lnTo>
                <a:lnTo>
                  <a:pt x="1255705" y="353168"/>
                </a:lnTo>
                <a:lnTo>
                  <a:pt x="0" y="35316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5400000">
            <a:off x="10609649" y="5012265"/>
            <a:ext cx="3859216" cy="2330002"/>
          </a:xfrm>
          <a:custGeom>
            <a:avLst/>
            <a:gdLst/>
            <a:ahLst/>
            <a:cxnLst/>
            <a:rect r="r" b="b" t="t" l="l"/>
            <a:pathLst>
              <a:path h="2330002" w="3859216">
                <a:moveTo>
                  <a:pt x="0" y="0"/>
                </a:moveTo>
                <a:lnTo>
                  <a:pt x="3859216" y="0"/>
                </a:lnTo>
                <a:lnTo>
                  <a:pt x="3859216" y="2330001"/>
                </a:lnTo>
                <a:lnTo>
                  <a:pt x="0" y="23300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2834953" y="239571"/>
            <a:ext cx="12618482" cy="1557019"/>
          </a:xfrm>
          <a:prstGeom prst="rect">
            <a:avLst/>
          </a:prstGeom>
        </p:spPr>
        <p:txBody>
          <a:bodyPr anchor="t" rtlCol="false" tIns="0" lIns="0" bIns="0" rIns="0">
            <a:spAutoFit/>
          </a:bodyPr>
          <a:lstStyle/>
          <a:p>
            <a:pPr algn="l">
              <a:lnSpc>
                <a:spcPts val="12880"/>
              </a:lnSpc>
            </a:pPr>
            <a:r>
              <a:rPr lang="en-US" sz="9200" b="true">
                <a:solidFill>
                  <a:srgbClr val="100F0D"/>
                </a:solidFill>
                <a:latin typeface="JetBrains Mono Bold"/>
                <a:ea typeface="JetBrains Mono Bold"/>
                <a:cs typeface="JetBrains Mono Bold"/>
                <a:sym typeface="JetBrains Mono Bold"/>
              </a:rPr>
              <a:t>Facial Recognition</a:t>
            </a:r>
          </a:p>
        </p:txBody>
      </p:sp>
      <p:sp>
        <p:nvSpPr>
          <p:cNvPr name="TextBox 11" id="11"/>
          <p:cNvSpPr txBox="true"/>
          <p:nvPr/>
        </p:nvSpPr>
        <p:spPr>
          <a:xfrm rot="0">
            <a:off x="6629638" y="1748966"/>
            <a:ext cx="5028724"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100F0D"/>
                </a:solidFill>
                <a:latin typeface="JetBrains Mono Bold"/>
                <a:ea typeface="JetBrains Mono Bold"/>
                <a:cs typeface="JetBrains Mono Bold"/>
                <a:sym typeface="JetBrains Mono Bold"/>
              </a:rPr>
              <a:t>SEAMLESS | FRICTIONLESS | SECURE </a:t>
            </a:r>
          </a:p>
        </p:txBody>
      </p:sp>
      <p:sp>
        <p:nvSpPr>
          <p:cNvPr name="TextBox 12" id="12"/>
          <p:cNvSpPr txBox="true"/>
          <p:nvPr/>
        </p:nvSpPr>
        <p:spPr>
          <a:xfrm rot="0">
            <a:off x="2844464" y="7314510"/>
            <a:ext cx="1371600"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7B1CF"/>
                </a:solidFill>
                <a:latin typeface="JetBrains Mono Bold"/>
                <a:ea typeface="JetBrains Mono Bold"/>
                <a:cs typeface="JetBrains Mono Bold"/>
                <a:sym typeface="JetBrains Mono Bold"/>
              </a:rPr>
              <a:t>DETECT</a:t>
            </a:r>
          </a:p>
        </p:txBody>
      </p:sp>
      <p:sp>
        <p:nvSpPr>
          <p:cNvPr name="TextBox 13" id="13"/>
          <p:cNvSpPr txBox="true"/>
          <p:nvPr/>
        </p:nvSpPr>
        <p:spPr>
          <a:xfrm rot="0">
            <a:off x="7971108" y="7314510"/>
            <a:ext cx="1828800"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00F0D"/>
                </a:solidFill>
                <a:latin typeface="JetBrains Mono Bold"/>
                <a:ea typeface="JetBrains Mono Bold"/>
                <a:cs typeface="JetBrains Mono Bold"/>
                <a:sym typeface="JetBrains Mono Bold"/>
              </a:rPr>
              <a:t>IDENTIFY</a:t>
            </a:r>
          </a:p>
        </p:txBody>
      </p:sp>
      <p:sp>
        <p:nvSpPr>
          <p:cNvPr name="TextBox 14" id="14"/>
          <p:cNvSpPr txBox="true"/>
          <p:nvPr/>
        </p:nvSpPr>
        <p:spPr>
          <a:xfrm rot="0">
            <a:off x="14142370" y="8937625"/>
            <a:ext cx="18286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GRANT ACCESS</a:t>
            </a:r>
          </a:p>
        </p:txBody>
      </p:sp>
      <p:sp>
        <p:nvSpPr>
          <p:cNvPr name="TextBox 15" id="15"/>
          <p:cNvSpPr txBox="true"/>
          <p:nvPr/>
        </p:nvSpPr>
        <p:spPr>
          <a:xfrm rot="0">
            <a:off x="14142445" y="5682811"/>
            <a:ext cx="16762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DENY ACCESS</a:t>
            </a:r>
          </a:p>
        </p:txBody>
      </p:sp>
      <p:sp>
        <p:nvSpPr>
          <p:cNvPr name="Freeform 16" id="16"/>
          <p:cNvSpPr/>
          <p:nvPr/>
        </p:nvSpPr>
        <p:spPr>
          <a:xfrm flipH="false" flipV="false" rot="-2223632">
            <a:off x="-1042882" y="7026554"/>
            <a:ext cx="3164167" cy="4800253"/>
          </a:xfrm>
          <a:custGeom>
            <a:avLst/>
            <a:gdLst/>
            <a:ahLst/>
            <a:cxnLst/>
            <a:rect r="r" b="b" t="t" l="l"/>
            <a:pathLst>
              <a:path h="4800253" w="3164167">
                <a:moveTo>
                  <a:pt x="0" y="0"/>
                </a:moveTo>
                <a:lnTo>
                  <a:pt x="3164166" y="0"/>
                </a:lnTo>
                <a:lnTo>
                  <a:pt x="3164166" y="4800252"/>
                </a:lnTo>
                <a:lnTo>
                  <a:pt x="0" y="48002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5818726" y="-5186743"/>
            <a:ext cx="8984232" cy="8085809"/>
          </a:xfrm>
          <a:custGeom>
            <a:avLst/>
            <a:gdLst/>
            <a:ahLst/>
            <a:cxnLst/>
            <a:rect r="r" b="b" t="t" l="l"/>
            <a:pathLst>
              <a:path h="8085809" w="8984232">
                <a:moveTo>
                  <a:pt x="0" y="0"/>
                </a:moveTo>
                <a:lnTo>
                  <a:pt x="8984232" y="0"/>
                </a:lnTo>
                <a:lnTo>
                  <a:pt x="8984232" y="8085809"/>
                </a:lnTo>
                <a:lnTo>
                  <a:pt x="0" y="808580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231913" y="182217"/>
            <a:ext cx="1994452" cy="1994452"/>
          </a:xfrm>
          <a:custGeom>
            <a:avLst/>
            <a:gdLst/>
            <a:ahLst/>
            <a:cxnLst/>
            <a:rect r="r" b="b" t="t" l="l"/>
            <a:pathLst>
              <a:path h="1994452" w="1994452">
                <a:moveTo>
                  <a:pt x="1994452" y="0"/>
                </a:moveTo>
                <a:lnTo>
                  <a:pt x="0" y="0"/>
                </a:lnTo>
                <a:lnTo>
                  <a:pt x="0" y="1994453"/>
                </a:lnTo>
                <a:lnTo>
                  <a:pt x="1994452" y="1994453"/>
                </a:lnTo>
                <a:lnTo>
                  <a:pt x="199445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9139" y="7835351"/>
            <a:ext cx="7181903" cy="2281310"/>
          </a:xfrm>
          <a:custGeom>
            <a:avLst/>
            <a:gdLst/>
            <a:ahLst/>
            <a:cxnLst/>
            <a:rect r="r" b="b" t="t" l="l"/>
            <a:pathLst>
              <a:path h="2281310" w="7181903">
                <a:moveTo>
                  <a:pt x="0" y="0"/>
                </a:moveTo>
                <a:lnTo>
                  <a:pt x="7181903" y="0"/>
                </a:lnTo>
                <a:lnTo>
                  <a:pt x="7181903" y="2281310"/>
                </a:lnTo>
                <a:lnTo>
                  <a:pt x="0" y="2281310"/>
                </a:lnTo>
                <a:lnTo>
                  <a:pt x="0" y="0"/>
                </a:lnTo>
                <a:close/>
              </a:path>
            </a:pathLst>
          </a:custGeom>
          <a:blipFill>
            <a:blip r:embed="rId4"/>
            <a:stretch>
              <a:fillRect l="0" t="0" r="0" b="0"/>
            </a:stretch>
          </a:blipFill>
        </p:spPr>
      </p:sp>
      <p:sp>
        <p:nvSpPr>
          <p:cNvPr name="Freeform 4" id="4"/>
          <p:cNvSpPr/>
          <p:nvPr/>
        </p:nvSpPr>
        <p:spPr>
          <a:xfrm flipH="false" flipV="false" rot="0">
            <a:off x="8986952" y="3718566"/>
            <a:ext cx="6909573" cy="3921649"/>
          </a:xfrm>
          <a:custGeom>
            <a:avLst/>
            <a:gdLst/>
            <a:ahLst/>
            <a:cxnLst/>
            <a:rect r="r" b="b" t="t" l="l"/>
            <a:pathLst>
              <a:path h="3921649" w="6909573">
                <a:moveTo>
                  <a:pt x="0" y="0"/>
                </a:moveTo>
                <a:lnTo>
                  <a:pt x="6909573" y="0"/>
                </a:lnTo>
                <a:lnTo>
                  <a:pt x="6909573" y="3921650"/>
                </a:lnTo>
                <a:lnTo>
                  <a:pt x="0" y="3921650"/>
                </a:lnTo>
                <a:lnTo>
                  <a:pt x="0" y="0"/>
                </a:lnTo>
                <a:close/>
              </a:path>
            </a:pathLst>
          </a:custGeom>
          <a:blipFill>
            <a:blip r:embed="rId5"/>
            <a:stretch>
              <a:fillRect l="0" t="0" r="0" b="0"/>
            </a:stretch>
          </a:blipFill>
        </p:spPr>
      </p:sp>
      <p:sp>
        <p:nvSpPr>
          <p:cNvPr name="Freeform 5" id="5"/>
          <p:cNvSpPr/>
          <p:nvPr/>
        </p:nvSpPr>
        <p:spPr>
          <a:xfrm flipH="false" flipV="false" rot="0">
            <a:off x="9839396" y="7747593"/>
            <a:ext cx="6697011" cy="2369067"/>
          </a:xfrm>
          <a:custGeom>
            <a:avLst/>
            <a:gdLst/>
            <a:ahLst/>
            <a:cxnLst/>
            <a:rect r="r" b="b" t="t" l="l"/>
            <a:pathLst>
              <a:path h="2369067" w="6697011">
                <a:moveTo>
                  <a:pt x="0" y="0"/>
                </a:moveTo>
                <a:lnTo>
                  <a:pt x="6697010" y="0"/>
                </a:lnTo>
                <a:lnTo>
                  <a:pt x="6697010" y="2369068"/>
                </a:lnTo>
                <a:lnTo>
                  <a:pt x="0" y="2369068"/>
                </a:lnTo>
                <a:lnTo>
                  <a:pt x="0" y="0"/>
                </a:lnTo>
                <a:close/>
              </a:path>
            </a:pathLst>
          </a:custGeom>
          <a:blipFill>
            <a:blip r:embed="rId6"/>
            <a:stretch>
              <a:fillRect l="0" t="0" r="0" b="0"/>
            </a:stretch>
          </a:blipFill>
        </p:spPr>
      </p:sp>
      <p:sp>
        <p:nvSpPr>
          <p:cNvPr name="TextBox 6" id="6"/>
          <p:cNvSpPr txBox="true"/>
          <p:nvPr/>
        </p:nvSpPr>
        <p:spPr>
          <a:xfrm rot="0">
            <a:off x="7772400" y="248892"/>
            <a:ext cx="2743200" cy="1038225"/>
          </a:xfrm>
          <a:prstGeom prst="rect">
            <a:avLst/>
          </a:prstGeom>
        </p:spPr>
        <p:txBody>
          <a:bodyPr anchor="t" rtlCol="false" tIns="0" lIns="0" bIns="0" rIns="0">
            <a:spAutoFit/>
          </a:bodyPr>
          <a:lstStyle/>
          <a:p>
            <a:pPr algn="ctr">
              <a:lnSpc>
                <a:spcPts val="8400"/>
              </a:lnSpc>
              <a:spcBef>
                <a:spcPct val="0"/>
              </a:spcBef>
            </a:pPr>
            <a:r>
              <a:rPr lang="en-US" b="true" sz="6000">
                <a:solidFill>
                  <a:srgbClr val="100F0D"/>
                </a:solidFill>
                <a:latin typeface="JetBrains Mono Bold"/>
                <a:ea typeface="JetBrains Mono Bold"/>
                <a:cs typeface="JetBrains Mono Bold"/>
                <a:sym typeface="JetBrains Mono Bold"/>
              </a:rPr>
              <a:t>DETECT</a:t>
            </a:r>
          </a:p>
        </p:txBody>
      </p:sp>
      <p:sp>
        <p:nvSpPr>
          <p:cNvPr name="TextBox 7" id="7"/>
          <p:cNvSpPr txBox="true"/>
          <p:nvPr/>
        </p:nvSpPr>
        <p:spPr>
          <a:xfrm rot="0">
            <a:off x="2683151" y="1773652"/>
            <a:ext cx="12921698" cy="15811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JetBrains Mono Bold"/>
                <a:ea typeface="JetBrains Mono Bold"/>
                <a:cs typeface="JetBrains Mono Bold"/>
                <a:sym typeface="JetBrains Mono Bold"/>
              </a:rPr>
              <a:t>THE SYSTEM CAPTURES LIVE VIDEO FEEDS VIA A STANDARD WEBCAM. TO MINIMIZE COMPUTATIONAL OVERHEAD, THE SYSTEM USES </a:t>
            </a:r>
            <a:r>
              <a:rPr lang="en-US" b="true" sz="3000" u="sng">
                <a:solidFill>
                  <a:srgbClr val="017FA4"/>
                </a:solidFill>
                <a:latin typeface="JetBrains Mono Bold"/>
                <a:ea typeface="JetBrains Mono Bold"/>
                <a:cs typeface="JetBrains Mono Bold"/>
                <a:sym typeface="JetBrains Mono Bold"/>
              </a:rPr>
              <a:t>OPENCV’S HAAR CASCADE CLASSIFIER</a:t>
            </a:r>
            <a:r>
              <a:rPr lang="en-US" b="true" sz="3000">
                <a:solidFill>
                  <a:srgbClr val="000000"/>
                </a:solidFill>
                <a:latin typeface="JetBrains Mono Bold"/>
                <a:ea typeface="JetBrains Mono Bold"/>
                <a:cs typeface="JetBrains Mono Bold"/>
                <a:sym typeface="JetBrains Mono Bold"/>
              </a:rPr>
              <a:t> </a:t>
            </a:r>
          </a:p>
        </p:txBody>
      </p:sp>
      <p:sp>
        <p:nvSpPr>
          <p:cNvPr name="TextBox 8" id="8"/>
          <p:cNvSpPr txBox="true"/>
          <p:nvPr/>
        </p:nvSpPr>
        <p:spPr>
          <a:xfrm rot="0">
            <a:off x="1229139" y="3911614"/>
            <a:ext cx="6906039" cy="3639185"/>
          </a:xfrm>
          <a:prstGeom prst="rect">
            <a:avLst/>
          </a:prstGeom>
        </p:spPr>
        <p:txBody>
          <a:bodyPr anchor="t" rtlCol="false" tIns="0" lIns="0" bIns="0" rIns="0">
            <a:spAutoFit/>
          </a:bodyPr>
          <a:lstStyle/>
          <a:p>
            <a:pPr algn="l">
              <a:lnSpc>
                <a:spcPts val="3639"/>
              </a:lnSpc>
              <a:spcBef>
                <a:spcPct val="0"/>
              </a:spcBef>
            </a:pPr>
            <a:r>
              <a:rPr lang="en-US" b="true" sz="2599">
                <a:solidFill>
                  <a:srgbClr val="000000"/>
                </a:solidFill>
                <a:latin typeface="JetBrains Mono Bold"/>
                <a:ea typeface="JetBrains Mono Bold"/>
                <a:cs typeface="JetBrains Mono Bold"/>
                <a:sym typeface="JetBrains Mono Bold"/>
              </a:rPr>
              <a:t>THE CLASSIFIER USES SIMPLE BLACK AND WHITE RECTANGULAR FILTERS (SHOWN RIGHT) TO ANALYZE CONTRAST. FOR EXAMPLE, IT DETECTS THAT THE EYE REGION IS GENERALLY DARKER THAN THE NOSE BRIDGE AND UPPER CHEEKS.</a:t>
            </a:r>
          </a:p>
          <a:p>
            <a:pPr algn="l">
              <a:lnSpc>
                <a:spcPts val="3639"/>
              </a:lnSpc>
              <a:spcBef>
                <a:spcPct val="0"/>
              </a:spcBef>
            </a:pPr>
          </a:p>
        </p:txBody>
      </p:sp>
      <p:sp>
        <p:nvSpPr>
          <p:cNvPr name="Freeform 9" id="9"/>
          <p:cNvSpPr/>
          <p:nvPr/>
        </p:nvSpPr>
        <p:spPr>
          <a:xfrm flipH="false" flipV="false" rot="3692547">
            <a:off x="15372446" y="-2294277"/>
            <a:ext cx="9166842" cy="8250157"/>
          </a:xfrm>
          <a:custGeom>
            <a:avLst/>
            <a:gdLst/>
            <a:ahLst/>
            <a:cxnLst/>
            <a:rect r="r" b="b" t="t" l="l"/>
            <a:pathLst>
              <a:path h="8250157" w="9166842">
                <a:moveTo>
                  <a:pt x="0" y="0"/>
                </a:moveTo>
                <a:lnTo>
                  <a:pt x="9166841" y="0"/>
                </a:lnTo>
                <a:lnTo>
                  <a:pt x="9166841" y="8250157"/>
                </a:lnTo>
                <a:lnTo>
                  <a:pt x="0" y="82501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slow">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784290" y="3867151"/>
            <a:ext cx="3112604" cy="3112604"/>
          </a:xfrm>
          <a:custGeom>
            <a:avLst/>
            <a:gdLst/>
            <a:ahLst/>
            <a:cxnLst/>
            <a:rect r="r" b="b" t="t" l="l"/>
            <a:pathLst>
              <a:path h="3112604" w="3112604">
                <a:moveTo>
                  <a:pt x="3112604" y="0"/>
                </a:moveTo>
                <a:lnTo>
                  <a:pt x="0" y="0"/>
                </a:lnTo>
                <a:lnTo>
                  <a:pt x="0" y="3112604"/>
                </a:lnTo>
                <a:lnTo>
                  <a:pt x="3112604" y="3112604"/>
                </a:lnTo>
                <a:lnTo>
                  <a:pt x="311260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835036" y="3932589"/>
            <a:ext cx="4100945" cy="2981729"/>
          </a:xfrm>
          <a:custGeom>
            <a:avLst/>
            <a:gdLst/>
            <a:ahLst/>
            <a:cxnLst/>
            <a:rect r="r" b="b" t="t" l="l"/>
            <a:pathLst>
              <a:path h="2981729" w="4100945">
                <a:moveTo>
                  <a:pt x="0" y="0"/>
                </a:moveTo>
                <a:lnTo>
                  <a:pt x="4100944" y="0"/>
                </a:lnTo>
                <a:lnTo>
                  <a:pt x="4100944" y="2981728"/>
                </a:lnTo>
                <a:lnTo>
                  <a:pt x="0" y="29817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158302" y="5766835"/>
            <a:ext cx="1255705" cy="353167"/>
          </a:xfrm>
          <a:custGeom>
            <a:avLst/>
            <a:gdLst/>
            <a:ahLst/>
            <a:cxnLst/>
            <a:rect r="r" b="b" t="t" l="l"/>
            <a:pathLst>
              <a:path h="353167" w="1255705">
                <a:moveTo>
                  <a:pt x="0" y="0"/>
                </a:moveTo>
                <a:lnTo>
                  <a:pt x="1255705" y="0"/>
                </a:lnTo>
                <a:lnTo>
                  <a:pt x="1255705" y="353167"/>
                </a:lnTo>
                <a:lnTo>
                  <a:pt x="0" y="3531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5400000">
            <a:off x="10609649" y="4897851"/>
            <a:ext cx="3859216" cy="2330002"/>
          </a:xfrm>
          <a:custGeom>
            <a:avLst/>
            <a:gdLst/>
            <a:ahLst/>
            <a:cxnLst/>
            <a:rect r="r" b="b" t="t" l="l"/>
            <a:pathLst>
              <a:path h="2330002" w="3859216">
                <a:moveTo>
                  <a:pt x="0" y="0"/>
                </a:moveTo>
                <a:lnTo>
                  <a:pt x="3859216" y="0"/>
                </a:lnTo>
                <a:lnTo>
                  <a:pt x="3859216" y="2330002"/>
                </a:lnTo>
                <a:lnTo>
                  <a:pt x="0" y="233000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2834953" y="239571"/>
            <a:ext cx="12618482" cy="1557019"/>
          </a:xfrm>
          <a:prstGeom prst="rect">
            <a:avLst/>
          </a:prstGeom>
        </p:spPr>
        <p:txBody>
          <a:bodyPr anchor="t" rtlCol="false" tIns="0" lIns="0" bIns="0" rIns="0">
            <a:spAutoFit/>
          </a:bodyPr>
          <a:lstStyle/>
          <a:p>
            <a:pPr algn="l">
              <a:lnSpc>
                <a:spcPts val="12880"/>
              </a:lnSpc>
            </a:pPr>
            <a:r>
              <a:rPr lang="en-US" sz="9200" b="true">
                <a:solidFill>
                  <a:srgbClr val="100F0D"/>
                </a:solidFill>
                <a:latin typeface="JetBrains Mono Bold"/>
                <a:ea typeface="JetBrains Mono Bold"/>
                <a:cs typeface="JetBrains Mono Bold"/>
                <a:sym typeface="JetBrains Mono Bold"/>
              </a:rPr>
              <a:t>Facial Recognition</a:t>
            </a:r>
          </a:p>
        </p:txBody>
      </p:sp>
      <p:sp>
        <p:nvSpPr>
          <p:cNvPr name="TextBox 9" id="9"/>
          <p:cNvSpPr txBox="true"/>
          <p:nvPr/>
        </p:nvSpPr>
        <p:spPr>
          <a:xfrm rot="0">
            <a:off x="6629638" y="1748966"/>
            <a:ext cx="5028724"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100F0D"/>
                </a:solidFill>
                <a:latin typeface="JetBrains Mono Bold"/>
                <a:ea typeface="JetBrains Mono Bold"/>
                <a:cs typeface="JetBrains Mono Bold"/>
                <a:sym typeface="JetBrains Mono Bold"/>
              </a:rPr>
              <a:t>SEAMLESS | FRICTIONLESS | SECURE </a:t>
            </a:r>
          </a:p>
        </p:txBody>
      </p:sp>
      <p:sp>
        <p:nvSpPr>
          <p:cNvPr name="TextBox 10" id="10"/>
          <p:cNvSpPr txBox="true"/>
          <p:nvPr/>
        </p:nvSpPr>
        <p:spPr>
          <a:xfrm rot="0">
            <a:off x="2844464" y="7200096"/>
            <a:ext cx="1371600"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00F0D"/>
                </a:solidFill>
                <a:latin typeface="JetBrains Mono Bold"/>
                <a:ea typeface="JetBrains Mono Bold"/>
                <a:cs typeface="JetBrains Mono Bold"/>
                <a:sym typeface="JetBrains Mono Bold"/>
              </a:rPr>
              <a:t>DETECT</a:t>
            </a:r>
          </a:p>
        </p:txBody>
      </p:sp>
      <p:sp>
        <p:nvSpPr>
          <p:cNvPr name="TextBox 11" id="11"/>
          <p:cNvSpPr txBox="true"/>
          <p:nvPr/>
        </p:nvSpPr>
        <p:spPr>
          <a:xfrm rot="0">
            <a:off x="7971108" y="7200096"/>
            <a:ext cx="1828800"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17B1CF"/>
                </a:solidFill>
                <a:latin typeface="JetBrains Mono Bold"/>
                <a:ea typeface="JetBrains Mono Bold"/>
                <a:cs typeface="JetBrains Mono Bold"/>
                <a:sym typeface="JetBrains Mono Bold"/>
              </a:rPr>
              <a:t>IDENTIFY</a:t>
            </a:r>
          </a:p>
        </p:txBody>
      </p:sp>
      <p:sp>
        <p:nvSpPr>
          <p:cNvPr name="Freeform 12" id="12"/>
          <p:cNvSpPr/>
          <p:nvPr/>
        </p:nvSpPr>
        <p:spPr>
          <a:xfrm flipH="false" flipV="false" rot="0">
            <a:off x="14142534" y="6265956"/>
            <a:ext cx="2033110" cy="2585831"/>
          </a:xfrm>
          <a:custGeom>
            <a:avLst/>
            <a:gdLst/>
            <a:ahLst/>
            <a:cxnLst/>
            <a:rect r="r" b="b" t="t" l="l"/>
            <a:pathLst>
              <a:path h="2585831" w="2033110">
                <a:moveTo>
                  <a:pt x="0" y="0"/>
                </a:moveTo>
                <a:lnTo>
                  <a:pt x="2033110" y="0"/>
                </a:lnTo>
                <a:lnTo>
                  <a:pt x="2033110" y="2585831"/>
                </a:lnTo>
                <a:lnTo>
                  <a:pt x="0" y="25858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4062118" y="2899066"/>
            <a:ext cx="2193943" cy="2716957"/>
          </a:xfrm>
          <a:custGeom>
            <a:avLst/>
            <a:gdLst/>
            <a:ahLst/>
            <a:cxnLst/>
            <a:rect r="r" b="b" t="t" l="l"/>
            <a:pathLst>
              <a:path h="2716957" w="2193943">
                <a:moveTo>
                  <a:pt x="0" y="0"/>
                </a:moveTo>
                <a:lnTo>
                  <a:pt x="2193942" y="0"/>
                </a:lnTo>
                <a:lnTo>
                  <a:pt x="2193942" y="2716957"/>
                </a:lnTo>
                <a:lnTo>
                  <a:pt x="0" y="27169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14142370" y="8909050"/>
            <a:ext cx="18286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GRANT ACCESS</a:t>
            </a:r>
          </a:p>
        </p:txBody>
      </p:sp>
      <p:sp>
        <p:nvSpPr>
          <p:cNvPr name="TextBox 15" id="15"/>
          <p:cNvSpPr txBox="true"/>
          <p:nvPr/>
        </p:nvSpPr>
        <p:spPr>
          <a:xfrm rot="0">
            <a:off x="14142445" y="5568398"/>
            <a:ext cx="16762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DENY ACCESS</a:t>
            </a:r>
          </a:p>
        </p:txBody>
      </p:sp>
      <p:sp>
        <p:nvSpPr>
          <p:cNvPr name="Freeform 16" id="16"/>
          <p:cNvSpPr/>
          <p:nvPr/>
        </p:nvSpPr>
        <p:spPr>
          <a:xfrm flipH="false" flipV="false" rot="3692547">
            <a:off x="-1242829" y="8685487"/>
            <a:ext cx="9166842" cy="8250157"/>
          </a:xfrm>
          <a:custGeom>
            <a:avLst/>
            <a:gdLst/>
            <a:ahLst/>
            <a:cxnLst/>
            <a:rect r="r" b="b" t="t" l="l"/>
            <a:pathLst>
              <a:path h="8250157" w="9166842">
                <a:moveTo>
                  <a:pt x="0" y="0"/>
                </a:moveTo>
                <a:lnTo>
                  <a:pt x="9166842" y="0"/>
                </a:lnTo>
                <a:lnTo>
                  <a:pt x="9166842" y="8250158"/>
                </a:lnTo>
                <a:lnTo>
                  <a:pt x="0" y="825015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2223632">
            <a:off x="-1042882" y="7026554"/>
            <a:ext cx="3164167" cy="4800253"/>
          </a:xfrm>
          <a:custGeom>
            <a:avLst/>
            <a:gdLst/>
            <a:ahLst/>
            <a:cxnLst/>
            <a:rect r="r" b="b" t="t" l="l"/>
            <a:pathLst>
              <a:path h="4800253" w="3164167">
                <a:moveTo>
                  <a:pt x="0" y="0"/>
                </a:moveTo>
                <a:lnTo>
                  <a:pt x="3164166" y="0"/>
                </a:lnTo>
                <a:lnTo>
                  <a:pt x="3164166" y="4800252"/>
                </a:lnTo>
                <a:lnTo>
                  <a:pt x="0" y="480025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1470" y="337936"/>
            <a:ext cx="2177105" cy="1582937"/>
          </a:xfrm>
          <a:custGeom>
            <a:avLst/>
            <a:gdLst/>
            <a:ahLst/>
            <a:cxnLst/>
            <a:rect r="r" b="b" t="t" l="l"/>
            <a:pathLst>
              <a:path h="1582937" w="2177105">
                <a:moveTo>
                  <a:pt x="0" y="0"/>
                </a:moveTo>
                <a:lnTo>
                  <a:pt x="2177105" y="0"/>
                </a:lnTo>
                <a:lnTo>
                  <a:pt x="2177105" y="1582937"/>
                </a:lnTo>
                <a:lnTo>
                  <a:pt x="0" y="15829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18575" y="4636437"/>
            <a:ext cx="13851950" cy="5650563"/>
          </a:xfrm>
          <a:custGeom>
            <a:avLst/>
            <a:gdLst/>
            <a:ahLst/>
            <a:cxnLst/>
            <a:rect r="r" b="b" t="t" l="l"/>
            <a:pathLst>
              <a:path h="5650563" w="13851950">
                <a:moveTo>
                  <a:pt x="0" y="0"/>
                </a:moveTo>
                <a:lnTo>
                  <a:pt x="13851951" y="0"/>
                </a:lnTo>
                <a:lnTo>
                  <a:pt x="13851951" y="5650563"/>
                </a:lnTo>
                <a:lnTo>
                  <a:pt x="0" y="5650563"/>
                </a:lnTo>
                <a:lnTo>
                  <a:pt x="0" y="0"/>
                </a:lnTo>
                <a:close/>
              </a:path>
            </a:pathLst>
          </a:custGeom>
          <a:blipFill>
            <a:blip r:embed="rId4"/>
            <a:stretch>
              <a:fillRect l="0" t="0" r="0" b="0"/>
            </a:stretch>
          </a:blipFill>
        </p:spPr>
      </p:sp>
      <p:sp>
        <p:nvSpPr>
          <p:cNvPr name="TextBox 4" id="4"/>
          <p:cNvSpPr txBox="true"/>
          <p:nvPr/>
        </p:nvSpPr>
        <p:spPr>
          <a:xfrm rot="0">
            <a:off x="7315200" y="248892"/>
            <a:ext cx="3657600" cy="1038225"/>
          </a:xfrm>
          <a:prstGeom prst="rect">
            <a:avLst/>
          </a:prstGeom>
        </p:spPr>
        <p:txBody>
          <a:bodyPr anchor="t" rtlCol="false" tIns="0" lIns="0" bIns="0" rIns="0">
            <a:spAutoFit/>
          </a:bodyPr>
          <a:lstStyle/>
          <a:p>
            <a:pPr algn="ctr">
              <a:lnSpc>
                <a:spcPts val="8400"/>
              </a:lnSpc>
              <a:spcBef>
                <a:spcPct val="0"/>
              </a:spcBef>
            </a:pPr>
            <a:r>
              <a:rPr lang="en-US" b="true" sz="6000">
                <a:solidFill>
                  <a:srgbClr val="100F0D"/>
                </a:solidFill>
                <a:latin typeface="JetBrains Mono Bold"/>
                <a:ea typeface="JetBrains Mono Bold"/>
                <a:cs typeface="JetBrains Mono Bold"/>
                <a:sym typeface="JetBrains Mono Bold"/>
              </a:rPr>
              <a:t>IDENTIFY</a:t>
            </a:r>
          </a:p>
        </p:txBody>
      </p:sp>
      <p:sp>
        <p:nvSpPr>
          <p:cNvPr name="TextBox 5" id="5"/>
          <p:cNvSpPr txBox="true"/>
          <p:nvPr/>
        </p:nvSpPr>
        <p:spPr>
          <a:xfrm rot="0">
            <a:off x="2518575" y="1863723"/>
            <a:ext cx="13445325" cy="318135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JetBrains Mono Bold"/>
                <a:ea typeface="JetBrains Mono Bold"/>
                <a:cs typeface="JetBrains Mono Bold"/>
                <a:sym typeface="JetBrains Mono Bold"/>
              </a:rPr>
              <a:t>THE CROPPED FACE IS PASSED INTO THE </a:t>
            </a:r>
            <a:r>
              <a:rPr lang="en-US" b="true" sz="3000" u="sng">
                <a:solidFill>
                  <a:srgbClr val="017FA4"/>
                </a:solidFill>
                <a:latin typeface="JetBrains Mono Bold"/>
                <a:ea typeface="JetBrains Mono Bold"/>
                <a:cs typeface="JetBrains Mono Bold"/>
                <a:sym typeface="JetBrains Mono Bold"/>
              </a:rPr>
              <a:t>FACENET</a:t>
            </a:r>
            <a:r>
              <a:rPr lang="en-US" b="true" sz="3000">
                <a:solidFill>
                  <a:srgbClr val="017FA4"/>
                </a:solidFill>
                <a:latin typeface="JetBrains Mono Bold"/>
                <a:ea typeface="JetBrains Mono Bold"/>
                <a:cs typeface="JetBrains Mono Bold"/>
                <a:sym typeface="JetBrains Mono Bold"/>
              </a:rPr>
              <a:t> </a:t>
            </a:r>
            <a:r>
              <a:rPr lang="en-US" b="true" sz="3000">
                <a:solidFill>
                  <a:srgbClr val="000000"/>
                </a:solidFill>
                <a:latin typeface="JetBrains Mono Bold"/>
                <a:ea typeface="JetBrains Mono Bold"/>
                <a:cs typeface="JetBrains Mono Bold"/>
                <a:sym typeface="JetBrains Mono Bold"/>
              </a:rPr>
              <a:t>CNN</a:t>
            </a:r>
            <a:r>
              <a:rPr lang="en-US" b="true" sz="3000">
                <a:solidFill>
                  <a:srgbClr val="000000"/>
                </a:solidFill>
                <a:latin typeface="JetBrains Mono Bold"/>
                <a:ea typeface="JetBrains Mono Bold"/>
                <a:cs typeface="JetBrains Mono Bold"/>
                <a:sym typeface="JetBrains Mono Bold"/>
              </a:rPr>
              <a:t>. FACENET PROCESSES THE IMAGE AND OUTPUTS A 512-DIMENSIONAL EMBEDDING VECTOR. THIS VECTOR MAPS THE FACIAL FEATURES INTO A EUCLIDEAN SPACE WHERE THE GEOMETRIC DISTANCE BETWEEN TWO VECTORS DIRECTLY CORRESPONDS TO FACIAL SIMILARITY.</a:t>
            </a:r>
          </a:p>
        </p:txBody>
      </p:sp>
      <p:sp>
        <p:nvSpPr>
          <p:cNvPr name="Freeform 6" id="6"/>
          <p:cNvSpPr/>
          <p:nvPr/>
        </p:nvSpPr>
        <p:spPr>
          <a:xfrm flipH="false" flipV="false" rot="3692547">
            <a:off x="15925421" y="-642106"/>
            <a:ext cx="9166842" cy="8250157"/>
          </a:xfrm>
          <a:custGeom>
            <a:avLst/>
            <a:gdLst/>
            <a:ahLst/>
            <a:cxnLst/>
            <a:rect r="r" b="b" t="t" l="l"/>
            <a:pathLst>
              <a:path h="8250157" w="9166842">
                <a:moveTo>
                  <a:pt x="0" y="0"/>
                </a:moveTo>
                <a:lnTo>
                  <a:pt x="9166842" y="0"/>
                </a:lnTo>
                <a:lnTo>
                  <a:pt x="9166842" y="8250158"/>
                </a:lnTo>
                <a:lnTo>
                  <a:pt x="0" y="82501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3692547">
            <a:off x="16586289" y="2501279"/>
            <a:ext cx="9166842" cy="8250157"/>
          </a:xfrm>
          <a:custGeom>
            <a:avLst/>
            <a:gdLst/>
            <a:ahLst/>
            <a:cxnLst/>
            <a:rect r="r" b="b" t="t" l="l"/>
            <a:pathLst>
              <a:path h="8250157" w="9166842">
                <a:moveTo>
                  <a:pt x="0" y="0"/>
                </a:moveTo>
                <a:lnTo>
                  <a:pt x="9166841" y="0"/>
                </a:lnTo>
                <a:lnTo>
                  <a:pt x="9166841" y="8250157"/>
                </a:lnTo>
                <a:lnTo>
                  <a:pt x="0" y="82501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slow">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378422" y="490537"/>
            <a:ext cx="3231454" cy="9596438"/>
          </a:xfrm>
          <a:custGeom>
            <a:avLst/>
            <a:gdLst/>
            <a:ahLst/>
            <a:cxnLst/>
            <a:rect r="r" b="b" t="t" l="l"/>
            <a:pathLst>
              <a:path h="9596438" w="3231454">
                <a:moveTo>
                  <a:pt x="0" y="0"/>
                </a:moveTo>
                <a:lnTo>
                  <a:pt x="3231454" y="0"/>
                </a:lnTo>
                <a:lnTo>
                  <a:pt x="3231454" y="9596438"/>
                </a:lnTo>
                <a:lnTo>
                  <a:pt x="0" y="9596438"/>
                </a:lnTo>
                <a:lnTo>
                  <a:pt x="0" y="0"/>
                </a:lnTo>
                <a:close/>
              </a:path>
            </a:pathLst>
          </a:custGeom>
          <a:blipFill>
            <a:blip r:embed="rId2"/>
            <a:stretch>
              <a:fillRect l="0" t="0" r="0" b="0"/>
            </a:stretch>
          </a:blipFill>
        </p:spPr>
      </p:sp>
      <p:sp>
        <p:nvSpPr>
          <p:cNvPr name="TextBox 3" id="3"/>
          <p:cNvSpPr txBox="true"/>
          <p:nvPr/>
        </p:nvSpPr>
        <p:spPr>
          <a:xfrm rot="0">
            <a:off x="1028700" y="3516101"/>
            <a:ext cx="12201485" cy="4870450"/>
          </a:xfrm>
          <a:prstGeom prst="rect">
            <a:avLst/>
          </a:prstGeom>
        </p:spPr>
        <p:txBody>
          <a:bodyPr anchor="t" rtlCol="false" tIns="0" lIns="0" bIns="0" rIns="0">
            <a:spAutoFit/>
          </a:bodyPr>
          <a:lstStyle/>
          <a:p>
            <a:pPr algn="l" marL="0" indent="0" lvl="0">
              <a:lnSpc>
                <a:spcPts val="4480"/>
              </a:lnSpc>
            </a:pPr>
            <a:r>
              <a:rPr lang="en-US" b="true" sz="2800" strike="noStrike">
                <a:solidFill>
                  <a:srgbClr val="000000"/>
                </a:solidFill>
                <a:latin typeface="JetBrains Mono Bold"/>
                <a:ea typeface="JetBrains Mono Bold"/>
                <a:cs typeface="JetBrains Mono Bold"/>
                <a:sym typeface="JetBrains Mono Bold"/>
              </a:rPr>
              <a:t>DEEP CNN ARCHITECTURE OVERVIEW</a:t>
            </a:r>
          </a:p>
          <a:p>
            <a:pPr algn="l" marL="582932" indent="-291466" lvl="1">
              <a:lnSpc>
                <a:spcPts val="4320"/>
              </a:lnSpc>
              <a:buAutoNum type="arabicPeriod" startAt="1"/>
            </a:pPr>
            <a:r>
              <a:rPr lang="en-US" b="true" sz="2700" strike="noStrike">
                <a:solidFill>
                  <a:srgbClr val="000000"/>
                </a:solidFill>
                <a:latin typeface="JetBrains Mono Bold"/>
                <a:ea typeface="JetBrains Mono Bold"/>
                <a:cs typeface="JetBrains Mono Bold"/>
                <a:sym typeface="JetBrains Mono Bold"/>
              </a:rPr>
              <a:t>STEM: INITIAL CONVOLUTIONS AND POOLING RAPIDLY REDUCE THE IMAGE SIZE.</a:t>
            </a:r>
          </a:p>
          <a:p>
            <a:pPr algn="l" marL="582932" indent="-291466" lvl="1">
              <a:lnSpc>
                <a:spcPts val="4320"/>
              </a:lnSpc>
              <a:buAutoNum type="arabicPeriod" startAt="1"/>
            </a:pPr>
            <a:r>
              <a:rPr lang="en-US" b="true" sz="2700" strike="noStrike">
                <a:solidFill>
                  <a:srgbClr val="000000"/>
                </a:solidFill>
                <a:latin typeface="JetBrains Mono Bold"/>
                <a:ea typeface="JetBrains Mono Bold"/>
                <a:cs typeface="JetBrains Mono Bold"/>
                <a:sym typeface="JetBrains Mono Bold"/>
              </a:rPr>
              <a:t>INCEPTION MODULES: PARALLEL PROCESSING CAPTURES FINE DETAILS AND BROAD STRUCTURES SIMULTANEOUSLY.</a:t>
            </a:r>
          </a:p>
          <a:p>
            <a:pPr algn="l" marL="582932" indent="-291466" lvl="1">
              <a:lnSpc>
                <a:spcPts val="4320"/>
              </a:lnSpc>
              <a:buAutoNum type="arabicPeriod" startAt="1"/>
            </a:pPr>
            <a:r>
              <a:rPr lang="en-US" b="true" sz="2700" strike="noStrike">
                <a:solidFill>
                  <a:srgbClr val="000000"/>
                </a:solidFill>
                <a:latin typeface="JetBrains Mono Bold"/>
                <a:ea typeface="JetBrains Mono Bold"/>
                <a:cs typeface="JetBrains Mono Bold"/>
                <a:sym typeface="JetBrains Mono Bold"/>
              </a:rPr>
              <a:t>DOWNSAMPLING: MAXPOOL LAYERS BETWEEN BLOCKS PROGRESSIVELY LOWER RESOLUTION.</a:t>
            </a:r>
          </a:p>
          <a:p>
            <a:pPr algn="l" marL="582932" indent="-291466" lvl="1">
              <a:lnSpc>
                <a:spcPts val="4320"/>
              </a:lnSpc>
              <a:buAutoNum type="arabicPeriod" startAt="1"/>
            </a:pPr>
            <a:r>
              <a:rPr lang="en-US" b="true" sz="2700" strike="noStrike">
                <a:solidFill>
                  <a:srgbClr val="000000"/>
                </a:solidFill>
                <a:latin typeface="JetBrains Mono Bold"/>
                <a:ea typeface="JetBrains Mono Bold"/>
                <a:cs typeface="JetBrains Mono Bold"/>
                <a:sym typeface="JetBrains Mono Bold"/>
              </a:rPr>
              <a:t>OUTPUT: FEATURES ARE CONSOLIDATED VIA GLOBAL AVERAGE POOLING INTO A FULLY CONNECTED LAYER.</a:t>
            </a:r>
          </a:p>
        </p:txBody>
      </p:sp>
      <p:grpSp>
        <p:nvGrpSpPr>
          <p:cNvPr name="Group 4" id="4"/>
          <p:cNvGrpSpPr/>
          <p:nvPr/>
        </p:nvGrpSpPr>
        <p:grpSpPr>
          <a:xfrm rot="0">
            <a:off x="15047923" y="6414715"/>
            <a:ext cx="2711551" cy="3472502"/>
            <a:chOff x="0" y="0"/>
            <a:chExt cx="714153" cy="914568"/>
          </a:xfrm>
        </p:grpSpPr>
        <p:sp>
          <p:nvSpPr>
            <p:cNvPr name="Freeform 5" id="5"/>
            <p:cNvSpPr/>
            <p:nvPr/>
          </p:nvSpPr>
          <p:spPr>
            <a:xfrm flipH="false" flipV="false" rot="0">
              <a:off x="0" y="0"/>
              <a:ext cx="714153" cy="914568"/>
            </a:xfrm>
            <a:custGeom>
              <a:avLst/>
              <a:gdLst/>
              <a:ahLst/>
              <a:cxnLst/>
              <a:rect r="r" b="b" t="t" l="l"/>
              <a:pathLst>
                <a:path h="914568" w="714153">
                  <a:moveTo>
                    <a:pt x="0" y="0"/>
                  </a:moveTo>
                  <a:lnTo>
                    <a:pt x="714153" y="0"/>
                  </a:lnTo>
                  <a:lnTo>
                    <a:pt x="714153" y="914568"/>
                  </a:lnTo>
                  <a:lnTo>
                    <a:pt x="0" y="914568"/>
                  </a:lnTo>
                  <a:close/>
                </a:path>
              </a:pathLst>
            </a:custGeom>
            <a:ln w="38100" cap="sq">
              <a:solidFill>
                <a:srgbClr val="FF0000"/>
              </a:solidFill>
              <a:prstDash val="solid"/>
              <a:miter/>
            </a:ln>
          </p:spPr>
        </p:sp>
        <p:sp>
          <p:nvSpPr>
            <p:cNvPr name="TextBox 6" id="6"/>
            <p:cNvSpPr txBox="true"/>
            <p:nvPr/>
          </p:nvSpPr>
          <p:spPr>
            <a:xfrm>
              <a:off x="0" y="-47625"/>
              <a:ext cx="714153" cy="962193"/>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6743938" y="1831068"/>
            <a:ext cx="2400062" cy="752476"/>
          </a:xfrm>
          <a:prstGeom prst="rect">
            <a:avLst/>
          </a:prstGeom>
        </p:spPr>
        <p:txBody>
          <a:bodyPr anchor="t" rtlCol="false" tIns="0" lIns="0" bIns="0" rIns="0">
            <a:spAutoFit/>
          </a:bodyPr>
          <a:lstStyle/>
          <a:p>
            <a:pPr algn="l" marL="0" indent="0" lvl="0">
              <a:lnSpc>
                <a:spcPts val="6299"/>
              </a:lnSpc>
              <a:spcBef>
                <a:spcPct val="0"/>
              </a:spcBef>
            </a:pPr>
            <a:r>
              <a:rPr lang="en-US" b="true" sz="4499" strike="noStrike" u="sng">
                <a:solidFill>
                  <a:srgbClr val="017FA4"/>
                </a:solidFill>
                <a:latin typeface="JetBrains Mono Bold"/>
                <a:ea typeface="JetBrains Mono Bold"/>
                <a:cs typeface="JetBrains Mono Bold"/>
                <a:sym typeface="JetBrains Mono Bold"/>
              </a:rPr>
              <a:t>FACENET</a:t>
            </a:r>
          </a:p>
        </p:txBody>
      </p:sp>
      <p:sp>
        <p:nvSpPr>
          <p:cNvPr name="TextBox 8" id="8"/>
          <p:cNvSpPr txBox="true"/>
          <p:nvPr/>
        </p:nvSpPr>
        <p:spPr>
          <a:xfrm rot="0">
            <a:off x="14678580" y="7801081"/>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1</a:t>
            </a:r>
          </a:p>
        </p:txBody>
      </p:sp>
      <p:grpSp>
        <p:nvGrpSpPr>
          <p:cNvPr name="Group 9" id="9"/>
          <p:cNvGrpSpPr/>
          <p:nvPr/>
        </p:nvGrpSpPr>
        <p:grpSpPr>
          <a:xfrm rot="0">
            <a:off x="14378422" y="5288756"/>
            <a:ext cx="3381051" cy="1026080"/>
            <a:chOff x="0" y="0"/>
            <a:chExt cx="890483" cy="270243"/>
          </a:xfrm>
        </p:grpSpPr>
        <p:sp>
          <p:nvSpPr>
            <p:cNvPr name="Freeform 10" id="10"/>
            <p:cNvSpPr/>
            <p:nvPr/>
          </p:nvSpPr>
          <p:spPr>
            <a:xfrm flipH="false" flipV="false" rot="0">
              <a:off x="0" y="0"/>
              <a:ext cx="890483" cy="270243"/>
            </a:xfrm>
            <a:custGeom>
              <a:avLst/>
              <a:gdLst/>
              <a:ahLst/>
              <a:cxnLst/>
              <a:rect r="r" b="b" t="t" l="l"/>
              <a:pathLst>
                <a:path h="270243" w="890483">
                  <a:moveTo>
                    <a:pt x="0" y="0"/>
                  </a:moveTo>
                  <a:lnTo>
                    <a:pt x="890483" y="0"/>
                  </a:lnTo>
                  <a:lnTo>
                    <a:pt x="890483" y="270243"/>
                  </a:lnTo>
                  <a:lnTo>
                    <a:pt x="0" y="270243"/>
                  </a:lnTo>
                  <a:close/>
                </a:path>
              </a:pathLst>
            </a:custGeom>
            <a:ln w="38100" cap="sq">
              <a:solidFill>
                <a:srgbClr val="FF0000"/>
              </a:solidFill>
              <a:prstDash val="solid"/>
              <a:miter/>
            </a:ln>
          </p:spPr>
        </p:sp>
        <p:sp>
          <p:nvSpPr>
            <p:cNvPr name="TextBox 11" id="11"/>
            <p:cNvSpPr txBox="true"/>
            <p:nvPr/>
          </p:nvSpPr>
          <p:spPr>
            <a:xfrm>
              <a:off x="0" y="-47625"/>
              <a:ext cx="890483" cy="317868"/>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4020760" y="5451911"/>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2</a:t>
            </a:r>
          </a:p>
        </p:txBody>
      </p:sp>
      <p:grpSp>
        <p:nvGrpSpPr>
          <p:cNvPr name="Group 13" id="13"/>
          <p:cNvGrpSpPr/>
          <p:nvPr/>
        </p:nvGrpSpPr>
        <p:grpSpPr>
          <a:xfrm rot="0">
            <a:off x="14378422" y="3593395"/>
            <a:ext cx="3381051" cy="1026080"/>
            <a:chOff x="0" y="0"/>
            <a:chExt cx="890483" cy="270243"/>
          </a:xfrm>
        </p:grpSpPr>
        <p:sp>
          <p:nvSpPr>
            <p:cNvPr name="Freeform 14" id="14"/>
            <p:cNvSpPr/>
            <p:nvPr/>
          </p:nvSpPr>
          <p:spPr>
            <a:xfrm flipH="false" flipV="false" rot="0">
              <a:off x="0" y="0"/>
              <a:ext cx="890483" cy="270243"/>
            </a:xfrm>
            <a:custGeom>
              <a:avLst/>
              <a:gdLst/>
              <a:ahLst/>
              <a:cxnLst/>
              <a:rect r="r" b="b" t="t" l="l"/>
              <a:pathLst>
                <a:path h="270243" w="890483">
                  <a:moveTo>
                    <a:pt x="0" y="0"/>
                  </a:moveTo>
                  <a:lnTo>
                    <a:pt x="890483" y="0"/>
                  </a:lnTo>
                  <a:lnTo>
                    <a:pt x="890483" y="270243"/>
                  </a:lnTo>
                  <a:lnTo>
                    <a:pt x="0" y="270243"/>
                  </a:lnTo>
                  <a:close/>
                </a:path>
              </a:pathLst>
            </a:custGeom>
            <a:ln w="38100" cap="sq">
              <a:solidFill>
                <a:srgbClr val="FF0000"/>
              </a:solidFill>
              <a:prstDash val="solid"/>
              <a:miter/>
            </a:ln>
          </p:spPr>
        </p:sp>
        <p:sp>
          <p:nvSpPr>
            <p:cNvPr name="TextBox 15" id="15"/>
            <p:cNvSpPr txBox="true"/>
            <p:nvPr/>
          </p:nvSpPr>
          <p:spPr>
            <a:xfrm>
              <a:off x="0" y="-47625"/>
              <a:ext cx="890483" cy="317868"/>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14378422" y="1798154"/>
            <a:ext cx="3381051" cy="1026080"/>
            <a:chOff x="0" y="0"/>
            <a:chExt cx="890483" cy="270243"/>
          </a:xfrm>
        </p:grpSpPr>
        <p:sp>
          <p:nvSpPr>
            <p:cNvPr name="Freeform 17" id="17"/>
            <p:cNvSpPr/>
            <p:nvPr/>
          </p:nvSpPr>
          <p:spPr>
            <a:xfrm flipH="false" flipV="false" rot="0">
              <a:off x="0" y="0"/>
              <a:ext cx="890483" cy="270243"/>
            </a:xfrm>
            <a:custGeom>
              <a:avLst/>
              <a:gdLst/>
              <a:ahLst/>
              <a:cxnLst/>
              <a:rect r="r" b="b" t="t" l="l"/>
              <a:pathLst>
                <a:path h="270243" w="890483">
                  <a:moveTo>
                    <a:pt x="0" y="0"/>
                  </a:moveTo>
                  <a:lnTo>
                    <a:pt x="890483" y="0"/>
                  </a:lnTo>
                  <a:lnTo>
                    <a:pt x="890483" y="270243"/>
                  </a:lnTo>
                  <a:lnTo>
                    <a:pt x="0" y="270243"/>
                  </a:lnTo>
                  <a:close/>
                </a:path>
              </a:pathLst>
            </a:custGeom>
            <a:ln w="38100" cap="sq">
              <a:solidFill>
                <a:srgbClr val="FF0000"/>
              </a:solidFill>
              <a:prstDash val="solid"/>
              <a:miter/>
            </a:ln>
          </p:spPr>
        </p:sp>
        <p:sp>
          <p:nvSpPr>
            <p:cNvPr name="TextBox 18" id="18"/>
            <p:cNvSpPr txBox="true"/>
            <p:nvPr/>
          </p:nvSpPr>
          <p:spPr>
            <a:xfrm>
              <a:off x="0" y="-47625"/>
              <a:ext cx="890483" cy="317868"/>
            </a:xfrm>
            <a:prstGeom prst="rect">
              <a:avLst/>
            </a:prstGeom>
          </p:spPr>
          <p:txBody>
            <a:bodyPr anchor="ctr" rtlCol="false" tIns="50800" lIns="50800" bIns="50800" rIns="50800"/>
            <a:lstStyle/>
            <a:p>
              <a:pPr algn="ctr">
                <a:lnSpc>
                  <a:spcPts val="2800"/>
                </a:lnSpc>
              </a:pPr>
            </a:p>
          </p:txBody>
        </p:sp>
      </p:grpSp>
      <p:sp>
        <p:nvSpPr>
          <p:cNvPr name="TextBox 19" id="19"/>
          <p:cNvSpPr txBox="true"/>
          <p:nvPr/>
        </p:nvSpPr>
        <p:spPr>
          <a:xfrm rot="0">
            <a:off x="14020760" y="3756549"/>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2</a:t>
            </a:r>
          </a:p>
        </p:txBody>
      </p:sp>
      <p:sp>
        <p:nvSpPr>
          <p:cNvPr name="TextBox 20" id="20"/>
          <p:cNvSpPr txBox="true"/>
          <p:nvPr/>
        </p:nvSpPr>
        <p:spPr>
          <a:xfrm rot="0">
            <a:off x="14020760" y="1961309"/>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2</a:t>
            </a:r>
          </a:p>
        </p:txBody>
      </p:sp>
      <p:grpSp>
        <p:nvGrpSpPr>
          <p:cNvPr name="Group 21" id="21"/>
          <p:cNvGrpSpPr/>
          <p:nvPr/>
        </p:nvGrpSpPr>
        <p:grpSpPr>
          <a:xfrm rot="0">
            <a:off x="14378422" y="4666718"/>
            <a:ext cx="3381051" cy="579289"/>
            <a:chOff x="0" y="0"/>
            <a:chExt cx="890483" cy="152570"/>
          </a:xfrm>
        </p:grpSpPr>
        <p:sp>
          <p:nvSpPr>
            <p:cNvPr name="Freeform 22" id="22"/>
            <p:cNvSpPr/>
            <p:nvPr/>
          </p:nvSpPr>
          <p:spPr>
            <a:xfrm flipH="false" flipV="false" rot="0">
              <a:off x="0" y="0"/>
              <a:ext cx="890483" cy="152570"/>
            </a:xfrm>
            <a:custGeom>
              <a:avLst/>
              <a:gdLst/>
              <a:ahLst/>
              <a:cxnLst/>
              <a:rect r="r" b="b" t="t" l="l"/>
              <a:pathLst>
                <a:path h="152570" w="890483">
                  <a:moveTo>
                    <a:pt x="0" y="0"/>
                  </a:moveTo>
                  <a:lnTo>
                    <a:pt x="890483" y="0"/>
                  </a:lnTo>
                  <a:lnTo>
                    <a:pt x="890483" y="152570"/>
                  </a:lnTo>
                  <a:lnTo>
                    <a:pt x="0" y="152570"/>
                  </a:lnTo>
                  <a:close/>
                </a:path>
              </a:pathLst>
            </a:custGeom>
            <a:ln w="38100" cap="sq">
              <a:solidFill>
                <a:srgbClr val="FF0000"/>
              </a:solidFill>
              <a:prstDash val="solid"/>
              <a:miter/>
            </a:ln>
          </p:spPr>
        </p:sp>
        <p:sp>
          <p:nvSpPr>
            <p:cNvPr name="TextBox 23" id="23"/>
            <p:cNvSpPr txBox="true"/>
            <p:nvPr/>
          </p:nvSpPr>
          <p:spPr>
            <a:xfrm>
              <a:off x="0" y="-47625"/>
              <a:ext cx="890483" cy="200195"/>
            </a:xfrm>
            <a:prstGeom prst="rect">
              <a:avLst/>
            </a:prstGeom>
          </p:spPr>
          <p:txBody>
            <a:bodyPr anchor="ctr" rtlCol="false" tIns="50800" lIns="50800" bIns="50800" rIns="50800"/>
            <a:lstStyle/>
            <a:p>
              <a:pPr algn="ctr">
                <a:lnSpc>
                  <a:spcPts val="2800"/>
                </a:lnSpc>
              </a:pPr>
            </a:p>
          </p:txBody>
        </p:sp>
      </p:grpSp>
      <p:sp>
        <p:nvSpPr>
          <p:cNvPr name="TextBox 24" id="24"/>
          <p:cNvSpPr txBox="true"/>
          <p:nvPr/>
        </p:nvSpPr>
        <p:spPr>
          <a:xfrm rot="0">
            <a:off x="14020760" y="4558030"/>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3</a:t>
            </a:r>
          </a:p>
        </p:txBody>
      </p:sp>
      <p:grpSp>
        <p:nvGrpSpPr>
          <p:cNvPr name="Group 25" id="25"/>
          <p:cNvGrpSpPr/>
          <p:nvPr/>
        </p:nvGrpSpPr>
        <p:grpSpPr>
          <a:xfrm rot="0">
            <a:off x="14378422" y="2918856"/>
            <a:ext cx="3381051" cy="579289"/>
            <a:chOff x="0" y="0"/>
            <a:chExt cx="890483" cy="152570"/>
          </a:xfrm>
        </p:grpSpPr>
        <p:sp>
          <p:nvSpPr>
            <p:cNvPr name="Freeform 26" id="26"/>
            <p:cNvSpPr/>
            <p:nvPr/>
          </p:nvSpPr>
          <p:spPr>
            <a:xfrm flipH="false" flipV="false" rot="0">
              <a:off x="0" y="0"/>
              <a:ext cx="890483" cy="152570"/>
            </a:xfrm>
            <a:custGeom>
              <a:avLst/>
              <a:gdLst/>
              <a:ahLst/>
              <a:cxnLst/>
              <a:rect r="r" b="b" t="t" l="l"/>
              <a:pathLst>
                <a:path h="152570" w="890483">
                  <a:moveTo>
                    <a:pt x="0" y="0"/>
                  </a:moveTo>
                  <a:lnTo>
                    <a:pt x="890483" y="0"/>
                  </a:lnTo>
                  <a:lnTo>
                    <a:pt x="890483" y="152570"/>
                  </a:lnTo>
                  <a:lnTo>
                    <a:pt x="0" y="152570"/>
                  </a:lnTo>
                  <a:close/>
                </a:path>
              </a:pathLst>
            </a:custGeom>
            <a:ln w="38100" cap="sq">
              <a:solidFill>
                <a:srgbClr val="FF0000"/>
              </a:solidFill>
              <a:prstDash val="solid"/>
              <a:miter/>
            </a:ln>
          </p:spPr>
        </p:sp>
        <p:sp>
          <p:nvSpPr>
            <p:cNvPr name="TextBox 27" id="27"/>
            <p:cNvSpPr txBox="true"/>
            <p:nvPr/>
          </p:nvSpPr>
          <p:spPr>
            <a:xfrm>
              <a:off x="0" y="-47625"/>
              <a:ext cx="890483" cy="200195"/>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14020760" y="2858615"/>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3</a:t>
            </a:r>
          </a:p>
        </p:txBody>
      </p:sp>
      <p:grpSp>
        <p:nvGrpSpPr>
          <p:cNvPr name="Group 29" id="29"/>
          <p:cNvGrpSpPr/>
          <p:nvPr/>
        </p:nvGrpSpPr>
        <p:grpSpPr>
          <a:xfrm rot="0">
            <a:off x="14378422" y="433120"/>
            <a:ext cx="3381051" cy="1317409"/>
            <a:chOff x="0" y="0"/>
            <a:chExt cx="890483" cy="346972"/>
          </a:xfrm>
        </p:grpSpPr>
        <p:sp>
          <p:nvSpPr>
            <p:cNvPr name="Freeform 30" id="30"/>
            <p:cNvSpPr/>
            <p:nvPr/>
          </p:nvSpPr>
          <p:spPr>
            <a:xfrm flipH="false" flipV="false" rot="0">
              <a:off x="0" y="0"/>
              <a:ext cx="890483" cy="346972"/>
            </a:xfrm>
            <a:custGeom>
              <a:avLst/>
              <a:gdLst/>
              <a:ahLst/>
              <a:cxnLst/>
              <a:rect r="r" b="b" t="t" l="l"/>
              <a:pathLst>
                <a:path h="346972" w="890483">
                  <a:moveTo>
                    <a:pt x="0" y="0"/>
                  </a:moveTo>
                  <a:lnTo>
                    <a:pt x="890483" y="0"/>
                  </a:lnTo>
                  <a:lnTo>
                    <a:pt x="890483" y="346972"/>
                  </a:lnTo>
                  <a:lnTo>
                    <a:pt x="0" y="346972"/>
                  </a:lnTo>
                  <a:close/>
                </a:path>
              </a:pathLst>
            </a:custGeom>
            <a:ln w="38100" cap="sq">
              <a:solidFill>
                <a:srgbClr val="FF0000"/>
              </a:solidFill>
              <a:prstDash val="solid"/>
              <a:miter/>
            </a:ln>
          </p:spPr>
        </p:sp>
        <p:sp>
          <p:nvSpPr>
            <p:cNvPr name="TextBox 31" id="31"/>
            <p:cNvSpPr txBox="true"/>
            <p:nvPr/>
          </p:nvSpPr>
          <p:spPr>
            <a:xfrm>
              <a:off x="0" y="-47625"/>
              <a:ext cx="890483" cy="394597"/>
            </a:xfrm>
            <a:prstGeom prst="rect">
              <a:avLst/>
            </a:prstGeom>
          </p:spPr>
          <p:txBody>
            <a:bodyPr anchor="ctr" rtlCol="false" tIns="50800" lIns="50800" bIns="50800" rIns="50800"/>
            <a:lstStyle/>
            <a:p>
              <a:pPr algn="ctr">
                <a:lnSpc>
                  <a:spcPts val="2800"/>
                </a:lnSpc>
              </a:pPr>
            </a:p>
          </p:txBody>
        </p:sp>
      </p:grpSp>
      <p:sp>
        <p:nvSpPr>
          <p:cNvPr name="TextBox 32" id="32"/>
          <p:cNvSpPr txBox="true"/>
          <p:nvPr/>
        </p:nvSpPr>
        <p:spPr>
          <a:xfrm rot="0">
            <a:off x="14020760" y="741939"/>
            <a:ext cx="236220" cy="585470"/>
          </a:xfrm>
          <a:prstGeom prst="rect">
            <a:avLst/>
          </a:prstGeom>
        </p:spPr>
        <p:txBody>
          <a:bodyPr anchor="t" rtlCol="false" tIns="0" lIns="0" bIns="0" rIns="0">
            <a:spAutoFit/>
          </a:bodyPr>
          <a:lstStyle/>
          <a:p>
            <a:pPr algn="l">
              <a:lnSpc>
                <a:spcPts val="4959"/>
              </a:lnSpc>
            </a:pPr>
            <a:r>
              <a:rPr lang="en-US" b="true" sz="3099">
                <a:solidFill>
                  <a:srgbClr val="FF0000"/>
                </a:solidFill>
                <a:latin typeface="JetBrains Mono Bold"/>
                <a:ea typeface="JetBrains Mono Bold"/>
                <a:cs typeface="JetBrains Mono Bold"/>
                <a:sym typeface="JetBrains Mono Bold"/>
              </a:rPr>
              <a:t>4</a:t>
            </a:r>
          </a:p>
        </p:txBody>
      </p:sp>
      <p:sp>
        <p:nvSpPr>
          <p:cNvPr name="Freeform 33" id="33"/>
          <p:cNvSpPr/>
          <p:nvPr/>
        </p:nvSpPr>
        <p:spPr>
          <a:xfrm flipH="false" flipV="false" rot="-5303928">
            <a:off x="576401" y="-8485046"/>
            <a:ext cx="5578369" cy="16110814"/>
          </a:xfrm>
          <a:custGeom>
            <a:avLst/>
            <a:gdLst/>
            <a:ahLst/>
            <a:cxnLst/>
            <a:rect r="r" b="b" t="t" l="l"/>
            <a:pathLst>
              <a:path h="16110814" w="5578369">
                <a:moveTo>
                  <a:pt x="0" y="0"/>
                </a:moveTo>
                <a:lnTo>
                  <a:pt x="5578369" y="0"/>
                </a:lnTo>
                <a:lnTo>
                  <a:pt x="5578369" y="16110814"/>
                </a:lnTo>
                <a:lnTo>
                  <a:pt x="0" y="161108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78244" y="1668091"/>
            <a:ext cx="10131513" cy="1335395"/>
          </a:xfrm>
          <a:prstGeom prst="rect">
            <a:avLst/>
          </a:prstGeom>
        </p:spPr>
        <p:txBody>
          <a:bodyPr anchor="t" rtlCol="false" tIns="0" lIns="0" bIns="0" rIns="0">
            <a:spAutoFit/>
          </a:bodyPr>
          <a:lstStyle/>
          <a:p>
            <a:pPr algn="l">
              <a:lnSpc>
                <a:spcPts val="10920"/>
              </a:lnSpc>
            </a:pPr>
            <a:r>
              <a:rPr lang="en-US" sz="7800" b="true">
                <a:solidFill>
                  <a:srgbClr val="100F0D"/>
                </a:solidFill>
                <a:latin typeface="JetBrains Mono Bold"/>
                <a:ea typeface="JetBrains Mono Bold"/>
                <a:cs typeface="JetBrains Mono Bold"/>
                <a:sym typeface="JetBrains Mono Bold"/>
              </a:rPr>
              <a:t>Operational Modes</a:t>
            </a:r>
          </a:p>
        </p:txBody>
      </p:sp>
      <p:sp>
        <p:nvSpPr>
          <p:cNvPr name="Freeform 5" id="5"/>
          <p:cNvSpPr/>
          <p:nvPr/>
        </p:nvSpPr>
        <p:spPr>
          <a:xfrm flipH="false" flipV="false" rot="4061897">
            <a:off x="-1362576" y="-2944413"/>
            <a:ext cx="4782552" cy="7255452"/>
          </a:xfrm>
          <a:custGeom>
            <a:avLst/>
            <a:gdLst/>
            <a:ahLst/>
            <a:cxnLst/>
            <a:rect r="r" b="b" t="t" l="l"/>
            <a:pathLst>
              <a:path h="7255452" w="4782552">
                <a:moveTo>
                  <a:pt x="0" y="0"/>
                </a:moveTo>
                <a:lnTo>
                  <a:pt x="4782552" y="0"/>
                </a:lnTo>
                <a:lnTo>
                  <a:pt x="4782552" y="7255453"/>
                </a:lnTo>
                <a:lnTo>
                  <a:pt x="0" y="72554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309431">
            <a:off x="-7964550" y="-1559321"/>
            <a:ext cx="6049771" cy="17472263"/>
          </a:xfrm>
          <a:custGeom>
            <a:avLst/>
            <a:gdLst/>
            <a:ahLst/>
            <a:cxnLst/>
            <a:rect r="r" b="b" t="t" l="l"/>
            <a:pathLst>
              <a:path h="17472263" w="6049771">
                <a:moveTo>
                  <a:pt x="0" y="0"/>
                </a:moveTo>
                <a:lnTo>
                  <a:pt x="6049771" y="0"/>
                </a:lnTo>
                <a:lnTo>
                  <a:pt x="6049771" y="17472262"/>
                </a:lnTo>
                <a:lnTo>
                  <a:pt x="0" y="174722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3773188" y="3613087"/>
            <a:ext cx="10436569" cy="5269584"/>
          </a:xfrm>
          <a:prstGeom prst="rect">
            <a:avLst/>
          </a:prstGeom>
        </p:spPr>
        <p:txBody>
          <a:bodyPr anchor="t" rtlCol="false" tIns="0" lIns="0" bIns="0" rIns="0">
            <a:spAutoFit/>
          </a:bodyPr>
          <a:lstStyle/>
          <a:p>
            <a:pPr algn="l">
              <a:lnSpc>
                <a:spcPts val="4728"/>
              </a:lnSpc>
            </a:pPr>
            <a:r>
              <a:rPr lang="en-US" sz="2955" b="true">
                <a:solidFill>
                  <a:srgbClr val="00BF63"/>
                </a:solidFill>
                <a:latin typeface="JetBrains Mono Bold"/>
                <a:ea typeface="JetBrains Mono Bold"/>
                <a:cs typeface="JetBrains Mono Bold"/>
                <a:sym typeface="JetBrains Mono Bold"/>
              </a:rPr>
              <a:t>MODE A: REGISTRATION MODE</a:t>
            </a:r>
          </a:p>
          <a:p>
            <a:pPr algn="l">
              <a:lnSpc>
                <a:spcPts val="4578"/>
              </a:lnSpc>
            </a:pPr>
            <a:r>
              <a:rPr lang="en-US" sz="2861" b="true">
                <a:solidFill>
                  <a:srgbClr val="100F0D"/>
                </a:solidFill>
                <a:latin typeface="JetBrains Mono Bold"/>
                <a:ea typeface="JetBrains Mono Bold"/>
                <a:cs typeface="JetBrains Mono Bold"/>
                <a:sym typeface="JetBrains Mono Bold"/>
              </a:rPr>
              <a:t>1) WEBCAM ONBOARDING</a:t>
            </a:r>
          </a:p>
          <a:p>
            <a:pPr algn="l">
              <a:lnSpc>
                <a:spcPts val="4578"/>
              </a:lnSpc>
            </a:pPr>
            <a:r>
              <a:rPr lang="en-US" sz="2861" b="true">
                <a:solidFill>
                  <a:srgbClr val="100F0D"/>
                </a:solidFill>
                <a:latin typeface="JetBrains Mono Bold"/>
                <a:ea typeface="JetBrains Mono Bold"/>
                <a:cs typeface="JetBrains Mono Bold"/>
                <a:sym typeface="JetBrains Mono Bold"/>
              </a:rPr>
              <a:t>2) BULK FILE IMPORT</a:t>
            </a:r>
            <a:r>
              <a:rPr lang="en-US" sz="2861">
                <a:solidFill>
                  <a:srgbClr val="100F0D"/>
                </a:solidFill>
                <a:latin typeface="JetBrains Mono"/>
                <a:ea typeface="JetBrains Mono"/>
                <a:cs typeface="JetBrains Mono"/>
                <a:sym typeface="JetBrains Mono"/>
              </a:rPr>
              <a:t> </a:t>
            </a:r>
          </a:p>
          <a:p>
            <a:pPr algn="l">
              <a:lnSpc>
                <a:spcPts val="4578"/>
              </a:lnSpc>
            </a:pPr>
            <a:r>
              <a:rPr lang="en-US" sz="2861" b="true">
                <a:solidFill>
                  <a:srgbClr val="100F0D"/>
                </a:solidFill>
                <a:latin typeface="JetBrains Mono Bold"/>
                <a:ea typeface="JetBrains Mono Bold"/>
                <a:cs typeface="JetBrains Mono Bold"/>
                <a:sym typeface="JetBrains Mono Bold"/>
              </a:rPr>
              <a:t>3) </a:t>
            </a:r>
            <a:r>
              <a:rPr lang="en-US" sz="2861" b="true">
                <a:solidFill>
                  <a:srgbClr val="100F0D"/>
                </a:solidFill>
                <a:latin typeface="JetBrains Mono Bold"/>
                <a:ea typeface="JetBrains Mono Bold"/>
                <a:cs typeface="JetBrains Mono Bold"/>
                <a:sym typeface="JetBrains Mono Bold"/>
              </a:rPr>
              <a:t>GROUP PHOTO PARSER</a:t>
            </a:r>
          </a:p>
          <a:p>
            <a:pPr algn="l">
              <a:lnSpc>
                <a:spcPts val="4728"/>
              </a:lnSpc>
            </a:pPr>
          </a:p>
          <a:p>
            <a:pPr algn="l">
              <a:lnSpc>
                <a:spcPts val="4728"/>
              </a:lnSpc>
            </a:pPr>
            <a:r>
              <a:rPr lang="en-US" sz="2955" b="true">
                <a:solidFill>
                  <a:srgbClr val="00BF63"/>
                </a:solidFill>
                <a:latin typeface="JetBrains Mono Bold"/>
                <a:ea typeface="JetBrains Mono Bold"/>
                <a:cs typeface="JetBrains Mono Bold"/>
                <a:sym typeface="JetBrains Mono Bold"/>
              </a:rPr>
              <a:t>MODE B: RECOGNITION MODE</a:t>
            </a:r>
          </a:p>
          <a:p>
            <a:pPr algn="l">
              <a:lnSpc>
                <a:spcPts val="4578"/>
              </a:lnSpc>
            </a:pPr>
            <a:r>
              <a:rPr lang="en-US" sz="2861" b="true">
                <a:solidFill>
                  <a:srgbClr val="100F0D"/>
                </a:solidFill>
                <a:latin typeface="JetBrains Mono Bold"/>
                <a:ea typeface="JetBrains Mono Bold"/>
                <a:cs typeface="JetBrains Mono Bold"/>
                <a:sym typeface="JetBrains Mono Bold"/>
              </a:rPr>
              <a:t>1) L</a:t>
            </a:r>
            <a:r>
              <a:rPr lang="en-US" sz="2861" b="true">
                <a:solidFill>
                  <a:srgbClr val="100F0D"/>
                </a:solidFill>
                <a:latin typeface="JetBrains Mono Bold"/>
                <a:ea typeface="JetBrains Mono Bold"/>
                <a:cs typeface="JetBrains Mono Bold"/>
                <a:sym typeface="JetBrains Mono Bold"/>
              </a:rPr>
              <a:t>IVE RECOGNITION (CONTINUOUS)</a:t>
            </a:r>
          </a:p>
          <a:p>
            <a:pPr algn="l">
              <a:lnSpc>
                <a:spcPts val="4578"/>
              </a:lnSpc>
            </a:pPr>
            <a:r>
              <a:rPr lang="en-US" sz="2861" b="true">
                <a:solidFill>
                  <a:srgbClr val="100F0D"/>
                </a:solidFill>
                <a:latin typeface="JetBrains Mono Bold"/>
                <a:ea typeface="JetBrains Mono Bold"/>
                <a:cs typeface="JetBrains Mono Bold"/>
                <a:sym typeface="JetBrains Mono Bold"/>
              </a:rPr>
              <a:t>2) </a:t>
            </a:r>
            <a:r>
              <a:rPr lang="en-US" sz="2861" b="true">
                <a:solidFill>
                  <a:srgbClr val="100F0D"/>
                </a:solidFill>
                <a:latin typeface="JetBrains Mono Bold"/>
                <a:ea typeface="JetBrains Mono Bold"/>
                <a:cs typeface="JetBrains Mono Bold"/>
                <a:sym typeface="JetBrains Mono Bold"/>
              </a:rPr>
              <a:t>SINGLE UNLOCK ATTEMPT (WITH LIVENESS CHECKS)</a:t>
            </a:r>
          </a:p>
          <a:p>
            <a:pPr algn="l">
              <a:lnSpc>
                <a:spcPts val="472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937720" y="239571"/>
            <a:ext cx="8412560" cy="1557019"/>
          </a:xfrm>
          <a:prstGeom prst="rect">
            <a:avLst/>
          </a:prstGeom>
        </p:spPr>
        <p:txBody>
          <a:bodyPr anchor="t" rtlCol="false" tIns="0" lIns="0" bIns="0" rIns="0">
            <a:spAutoFit/>
          </a:bodyPr>
          <a:lstStyle/>
          <a:p>
            <a:pPr algn="l">
              <a:lnSpc>
                <a:spcPts val="12880"/>
              </a:lnSpc>
            </a:pPr>
            <a:r>
              <a:rPr lang="en-US" sz="9200" b="true">
                <a:solidFill>
                  <a:srgbClr val="100F0D"/>
                </a:solidFill>
                <a:latin typeface="JetBrains Mono Bold"/>
                <a:ea typeface="JetBrains Mono Bold"/>
                <a:cs typeface="JetBrains Mono Bold"/>
                <a:sym typeface="JetBrains Mono Bold"/>
              </a:rPr>
              <a:t>Key Features</a:t>
            </a:r>
          </a:p>
        </p:txBody>
      </p:sp>
      <p:sp>
        <p:nvSpPr>
          <p:cNvPr name="TextBox 5" id="5"/>
          <p:cNvSpPr txBox="true"/>
          <p:nvPr/>
        </p:nvSpPr>
        <p:spPr>
          <a:xfrm rot="0">
            <a:off x="6369237" y="1748966"/>
            <a:ext cx="4876800"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100F0D"/>
                </a:solidFill>
                <a:latin typeface="JetBrains Mono Bold"/>
                <a:ea typeface="JetBrains Mono Bold"/>
                <a:cs typeface="JetBrains Mono Bold"/>
                <a:sym typeface="JetBrains Mono Bold"/>
              </a:rPr>
              <a:t>INGESTION &amp; R</a:t>
            </a:r>
            <a:r>
              <a:rPr lang="en-US" b="true" sz="2000">
                <a:solidFill>
                  <a:srgbClr val="100F0D"/>
                </a:solidFill>
                <a:latin typeface="JetBrains Mono Bold"/>
                <a:ea typeface="JetBrains Mono Bold"/>
                <a:cs typeface="JetBrains Mono Bold"/>
                <a:sym typeface="JetBrains Mono Bold"/>
              </a:rPr>
              <a:t>ECOGNITION FEATURES</a:t>
            </a:r>
          </a:p>
        </p:txBody>
      </p:sp>
      <p:sp>
        <p:nvSpPr>
          <p:cNvPr name="TextBox 6" id="6"/>
          <p:cNvSpPr txBox="true"/>
          <p:nvPr/>
        </p:nvSpPr>
        <p:spPr>
          <a:xfrm rot="0">
            <a:off x="14142370" y="8909050"/>
            <a:ext cx="18286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GRANT ACCESS</a:t>
            </a:r>
          </a:p>
        </p:txBody>
      </p:sp>
      <p:sp>
        <p:nvSpPr>
          <p:cNvPr name="Freeform 7" id="7"/>
          <p:cNvSpPr/>
          <p:nvPr/>
        </p:nvSpPr>
        <p:spPr>
          <a:xfrm flipH="false" flipV="false" rot="3940912">
            <a:off x="11730602" y="1208487"/>
            <a:ext cx="5578369" cy="16110814"/>
          </a:xfrm>
          <a:custGeom>
            <a:avLst/>
            <a:gdLst/>
            <a:ahLst/>
            <a:cxnLst/>
            <a:rect r="r" b="b" t="t" l="l"/>
            <a:pathLst>
              <a:path h="16110814" w="5578369">
                <a:moveTo>
                  <a:pt x="0" y="0"/>
                </a:moveTo>
                <a:lnTo>
                  <a:pt x="5578369" y="0"/>
                </a:lnTo>
                <a:lnTo>
                  <a:pt x="5578369" y="16110815"/>
                </a:lnTo>
                <a:lnTo>
                  <a:pt x="0" y="16110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170173">
            <a:off x="15469802" y="95179"/>
            <a:ext cx="4265357" cy="12318719"/>
          </a:xfrm>
          <a:custGeom>
            <a:avLst/>
            <a:gdLst/>
            <a:ahLst/>
            <a:cxnLst/>
            <a:rect r="r" b="b" t="t" l="l"/>
            <a:pathLst>
              <a:path h="12318719" w="4265357">
                <a:moveTo>
                  <a:pt x="0" y="0"/>
                </a:moveTo>
                <a:lnTo>
                  <a:pt x="4265356" y="0"/>
                </a:lnTo>
                <a:lnTo>
                  <a:pt x="4265356" y="12318719"/>
                </a:lnTo>
                <a:lnTo>
                  <a:pt x="0" y="123187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262303" y="3114575"/>
            <a:ext cx="9983733" cy="5842100"/>
          </a:xfrm>
          <a:prstGeom prst="rect">
            <a:avLst/>
          </a:prstGeom>
        </p:spPr>
        <p:txBody>
          <a:bodyPr anchor="t" rtlCol="false" tIns="0" lIns="0" bIns="0" rIns="0">
            <a:spAutoFit/>
          </a:bodyPr>
          <a:lstStyle/>
          <a:p>
            <a:pPr algn="l">
              <a:lnSpc>
                <a:spcPts val="5787"/>
              </a:lnSpc>
            </a:pPr>
            <a:r>
              <a:rPr lang="en-US" sz="4134" b="true">
                <a:solidFill>
                  <a:srgbClr val="D59546"/>
                </a:solidFill>
                <a:latin typeface="JetBrains Mono Bold"/>
                <a:ea typeface="JetBrains Mono Bold"/>
                <a:cs typeface="JetBrains Mono Bold"/>
                <a:sym typeface="JetBrains Mono Bold"/>
              </a:rPr>
              <a:t>1) INGESTION SUBFEATURES</a:t>
            </a:r>
          </a:p>
          <a:p>
            <a:pPr algn="l" marL="892568" indent="-446284" lvl="1">
              <a:lnSpc>
                <a:spcPts val="5787"/>
              </a:lnSpc>
              <a:buFont typeface="Arial"/>
              <a:buChar char="•"/>
            </a:pPr>
            <a:r>
              <a:rPr lang="en-US" b="true" sz="4134">
                <a:solidFill>
                  <a:srgbClr val="000000"/>
                </a:solidFill>
                <a:latin typeface="JetBrains Mono Bold"/>
                <a:ea typeface="JetBrains Mono Bold"/>
                <a:cs typeface="JetBrains Mono Bold"/>
                <a:sym typeface="JetBrains Mono Bold"/>
              </a:rPr>
              <a:t>Automatic Directory Labeling </a:t>
            </a:r>
          </a:p>
          <a:p>
            <a:pPr algn="l" marL="892568" indent="-446284" lvl="1">
              <a:lnSpc>
                <a:spcPts val="5787"/>
              </a:lnSpc>
              <a:spcBef>
                <a:spcPct val="0"/>
              </a:spcBef>
              <a:buFont typeface="Arial"/>
              <a:buChar char="•"/>
            </a:pPr>
            <a:r>
              <a:rPr lang="en-US" b="true" sz="4134">
                <a:solidFill>
                  <a:srgbClr val="000000"/>
                </a:solidFill>
                <a:latin typeface="JetBrains Mono Bold"/>
                <a:ea typeface="JetBrains Mono Bold"/>
                <a:cs typeface="JetBrains Mono Bold"/>
                <a:sym typeface="JetBrains Mono Bold"/>
              </a:rPr>
              <a:t>CRASH PREVENTION </a:t>
            </a:r>
          </a:p>
          <a:p>
            <a:pPr algn="l" marL="892568" indent="-446284" lvl="1">
              <a:lnSpc>
                <a:spcPts val="5787"/>
              </a:lnSpc>
              <a:spcBef>
                <a:spcPct val="0"/>
              </a:spcBef>
              <a:buFont typeface="Arial"/>
              <a:buChar char="•"/>
            </a:pPr>
            <a:r>
              <a:rPr lang="en-US" b="true" sz="4134">
                <a:solidFill>
                  <a:srgbClr val="000000"/>
                </a:solidFill>
                <a:latin typeface="JetBrains Mono Bold"/>
                <a:ea typeface="JetBrains Mono Bold"/>
                <a:cs typeface="JetBrains Mono Bold"/>
                <a:sym typeface="JetBrains Mono Bold"/>
              </a:rPr>
              <a:t>LIVE CACHE SYNC </a:t>
            </a:r>
          </a:p>
          <a:p>
            <a:pPr algn="l">
              <a:lnSpc>
                <a:spcPts val="5787"/>
              </a:lnSpc>
              <a:spcBef>
                <a:spcPct val="0"/>
              </a:spcBef>
            </a:pPr>
            <a:r>
              <a:rPr lang="en-US" b="true" sz="4134">
                <a:solidFill>
                  <a:srgbClr val="D59546"/>
                </a:solidFill>
                <a:latin typeface="JetBrains Mono Bold"/>
                <a:ea typeface="JetBrains Mono Bold"/>
                <a:cs typeface="JetBrains Mono Bold"/>
                <a:sym typeface="JetBrains Mono Bold"/>
              </a:rPr>
              <a:t>2) </a:t>
            </a:r>
            <a:r>
              <a:rPr lang="en-US" b="true" sz="4134">
                <a:solidFill>
                  <a:srgbClr val="D59546"/>
                </a:solidFill>
                <a:latin typeface="JetBrains Mono Bold"/>
                <a:ea typeface="JetBrains Mono Bold"/>
                <a:cs typeface="JetBrains Mono Bold"/>
                <a:sym typeface="JetBrains Mono Bold"/>
              </a:rPr>
              <a:t>FACE MATCHING FEATURES</a:t>
            </a:r>
          </a:p>
          <a:p>
            <a:pPr algn="l" marL="892568" indent="-446284" lvl="1">
              <a:lnSpc>
                <a:spcPts val="5787"/>
              </a:lnSpc>
              <a:spcBef>
                <a:spcPct val="0"/>
              </a:spcBef>
              <a:buFont typeface="Arial"/>
              <a:buChar char="•"/>
            </a:pPr>
            <a:r>
              <a:rPr lang="en-US" b="true" sz="4134">
                <a:solidFill>
                  <a:srgbClr val="000000"/>
                </a:solidFill>
                <a:latin typeface="JetBrains Mono Bold"/>
                <a:ea typeface="JetBrains Mono Bold"/>
                <a:cs typeface="JetBrains Mono Bold"/>
                <a:sym typeface="JetBrains Mono Bold"/>
              </a:rPr>
              <a:t>CONFIDENCE SCORES</a:t>
            </a:r>
          </a:p>
          <a:p>
            <a:pPr algn="l" marL="892568" indent="-446284" lvl="1">
              <a:lnSpc>
                <a:spcPts val="5787"/>
              </a:lnSpc>
              <a:spcBef>
                <a:spcPct val="0"/>
              </a:spcBef>
              <a:buFont typeface="Arial"/>
              <a:buChar char="•"/>
            </a:pPr>
            <a:r>
              <a:rPr lang="en-US" b="true" sz="4134">
                <a:solidFill>
                  <a:srgbClr val="000000"/>
                </a:solidFill>
                <a:latin typeface="JetBrains Mono Bold"/>
                <a:ea typeface="JetBrains Mono Bold"/>
                <a:cs typeface="JetBrains Mono Bold"/>
                <a:sym typeface="JetBrains Mono Bold"/>
              </a:rPr>
              <a:t>ADAPTIVE AUTO-LEARNING</a:t>
            </a:r>
          </a:p>
          <a:p>
            <a:pPr algn="l">
              <a:lnSpc>
                <a:spcPts val="5787"/>
              </a:lnSpc>
              <a:spcBef>
                <a:spcPct val="0"/>
              </a:spcBef>
            </a:pPr>
          </a:p>
        </p:txBody>
      </p:sp>
    </p:spTree>
  </p:cSld>
  <p:clrMapOvr>
    <a:masterClrMapping/>
  </p:clrMapOvr>
  <p:transition spd="slow">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937720" y="239571"/>
            <a:ext cx="8412560" cy="1557019"/>
          </a:xfrm>
          <a:prstGeom prst="rect">
            <a:avLst/>
          </a:prstGeom>
        </p:spPr>
        <p:txBody>
          <a:bodyPr anchor="t" rtlCol="false" tIns="0" lIns="0" bIns="0" rIns="0">
            <a:spAutoFit/>
          </a:bodyPr>
          <a:lstStyle/>
          <a:p>
            <a:pPr algn="l">
              <a:lnSpc>
                <a:spcPts val="12880"/>
              </a:lnSpc>
            </a:pPr>
            <a:r>
              <a:rPr lang="en-US" sz="9200" b="true">
                <a:solidFill>
                  <a:srgbClr val="100F0D"/>
                </a:solidFill>
                <a:latin typeface="JetBrains Mono Bold"/>
                <a:ea typeface="JetBrains Mono Bold"/>
                <a:cs typeface="JetBrains Mono Bold"/>
                <a:sym typeface="JetBrains Mono Bold"/>
              </a:rPr>
              <a:t>Key Features</a:t>
            </a:r>
          </a:p>
        </p:txBody>
      </p:sp>
      <p:sp>
        <p:nvSpPr>
          <p:cNvPr name="TextBox 5" id="5"/>
          <p:cNvSpPr txBox="true"/>
          <p:nvPr/>
        </p:nvSpPr>
        <p:spPr>
          <a:xfrm rot="0">
            <a:off x="6553200" y="1748966"/>
            <a:ext cx="5181600"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100F0D"/>
                </a:solidFill>
                <a:latin typeface="JetBrains Mono Bold"/>
                <a:ea typeface="JetBrains Mono Bold"/>
                <a:cs typeface="JetBrains Mono Bold"/>
                <a:sym typeface="JetBrains Mono Bold"/>
              </a:rPr>
              <a:t>S</a:t>
            </a:r>
            <a:r>
              <a:rPr lang="en-US" b="true" sz="2000">
                <a:solidFill>
                  <a:srgbClr val="100F0D"/>
                </a:solidFill>
                <a:latin typeface="JetBrains Mono Bold"/>
                <a:ea typeface="JetBrains Mono Bold"/>
                <a:cs typeface="JetBrains Mono Bold"/>
                <a:sym typeface="JetBrains Mono Bold"/>
              </a:rPr>
              <a:t>ECURITY &amp; ANTI-SPOOFING FRAMEWORK</a:t>
            </a:r>
          </a:p>
        </p:txBody>
      </p:sp>
      <p:sp>
        <p:nvSpPr>
          <p:cNvPr name="TextBox 6" id="6"/>
          <p:cNvSpPr txBox="true"/>
          <p:nvPr/>
        </p:nvSpPr>
        <p:spPr>
          <a:xfrm rot="0">
            <a:off x="14142370" y="8909050"/>
            <a:ext cx="1828681" cy="3492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JetBrains Mono Bold"/>
                <a:ea typeface="JetBrains Mono Bold"/>
                <a:cs typeface="JetBrains Mono Bold"/>
                <a:sym typeface="JetBrains Mono Bold"/>
              </a:rPr>
              <a:t>GRANT ACCESS</a:t>
            </a:r>
          </a:p>
        </p:txBody>
      </p:sp>
      <p:sp>
        <p:nvSpPr>
          <p:cNvPr name="Freeform 7" id="7"/>
          <p:cNvSpPr/>
          <p:nvPr/>
        </p:nvSpPr>
        <p:spPr>
          <a:xfrm flipH="false" flipV="false" rot="3940912">
            <a:off x="11730602" y="1208487"/>
            <a:ext cx="5578369" cy="16110814"/>
          </a:xfrm>
          <a:custGeom>
            <a:avLst/>
            <a:gdLst/>
            <a:ahLst/>
            <a:cxnLst/>
            <a:rect r="r" b="b" t="t" l="l"/>
            <a:pathLst>
              <a:path h="16110814" w="5578369">
                <a:moveTo>
                  <a:pt x="0" y="0"/>
                </a:moveTo>
                <a:lnTo>
                  <a:pt x="5578369" y="0"/>
                </a:lnTo>
                <a:lnTo>
                  <a:pt x="5578369" y="16110815"/>
                </a:lnTo>
                <a:lnTo>
                  <a:pt x="0" y="16110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170173">
            <a:off x="15469802" y="95179"/>
            <a:ext cx="4265357" cy="12318719"/>
          </a:xfrm>
          <a:custGeom>
            <a:avLst/>
            <a:gdLst/>
            <a:ahLst/>
            <a:cxnLst/>
            <a:rect r="r" b="b" t="t" l="l"/>
            <a:pathLst>
              <a:path h="12318719" w="4265357">
                <a:moveTo>
                  <a:pt x="0" y="0"/>
                </a:moveTo>
                <a:lnTo>
                  <a:pt x="4265356" y="0"/>
                </a:lnTo>
                <a:lnTo>
                  <a:pt x="4265356" y="12318719"/>
                </a:lnTo>
                <a:lnTo>
                  <a:pt x="0" y="123187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1366115" y="2559298"/>
            <a:ext cx="7493116" cy="6531634"/>
          </a:xfrm>
          <a:prstGeom prst="rect">
            <a:avLst/>
          </a:prstGeom>
        </p:spPr>
        <p:txBody>
          <a:bodyPr anchor="t" rtlCol="false" tIns="0" lIns="0" bIns="0" rIns="0">
            <a:spAutoFit/>
          </a:bodyPr>
          <a:lstStyle/>
          <a:p>
            <a:pPr algn="l">
              <a:lnSpc>
                <a:spcPts val="4001"/>
              </a:lnSpc>
            </a:pPr>
            <a:r>
              <a:rPr lang="en-US" sz="2858" b="true">
                <a:solidFill>
                  <a:srgbClr val="D59546"/>
                </a:solidFill>
                <a:latin typeface="JetBrains Mono Bold"/>
                <a:ea typeface="JetBrains Mono Bold"/>
                <a:cs typeface="JetBrains Mono Bold"/>
                <a:sym typeface="JetBrains Mono Bold"/>
              </a:rPr>
              <a:t>1) MULTI-MODAL ANTI-SPOOFING</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Blink Detection (EAR)</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3D HEAD ROTATION TRACKING</a:t>
            </a:r>
          </a:p>
          <a:p>
            <a:pPr algn="l">
              <a:lnSpc>
                <a:spcPts val="4001"/>
              </a:lnSpc>
              <a:spcBef>
                <a:spcPct val="0"/>
              </a:spcBef>
            </a:pPr>
          </a:p>
          <a:p>
            <a:pPr algn="l">
              <a:lnSpc>
                <a:spcPts val="4001"/>
              </a:lnSpc>
              <a:spcBef>
                <a:spcPct val="0"/>
              </a:spcBef>
            </a:pPr>
            <a:r>
              <a:rPr lang="en-US" b="true" sz="2858">
                <a:solidFill>
                  <a:srgbClr val="D59546"/>
                </a:solidFill>
                <a:latin typeface="JetBrains Mono Bold"/>
                <a:ea typeface="JetBrains Mono Bold"/>
                <a:cs typeface="JetBrains Mono Bold"/>
                <a:sym typeface="JetBrains Mono Bold"/>
              </a:rPr>
              <a:t>2) THREAT MONITORING</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STRANGER PERSISTENCE DETECTION</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AUDIT LOGGING</a:t>
            </a:r>
          </a:p>
          <a:p>
            <a:pPr algn="l">
              <a:lnSpc>
                <a:spcPts val="4001"/>
              </a:lnSpc>
              <a:spcBef>
                <a:spcPct val="0"/>
              </a:spcBef>
            </a:pPr>
          </a:p>
          <a:p>
            <a:pPr algn="l">
              <a:lnSpc>
                <a:spcPts val="4001"/>
              </a:lnSpc>
              <a:spcBef>
                <a:spcPct val="0"/>
              </a:spcBef>
            </a:pPr>
            <a:r>
              <a:rPr lang="en-US" b="true" sz="2858">
                <a:solidFill>
                  <a:srgbClr val="D59546"/>
                </a:solidFill>
                <a:latin typeface="JetBrains Mono Bold"/>
                <a:ea typeface="JetBrains Mono Bold"/>
                <a:cs typeface="JetBrains Mono Bold"/>
                <a:sym typeface="JetBrains Mono Bold"/>
              </a:rPr>
              <a:t>3) NIGHT GUARD &amp; ALERT SYSTEM</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RESTRICTED-TIME MONITORING</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EMAIL ALERTS</a:t>
            </a:r>
          </a:p>
          <a:p>
            <a:pPr algn="l" marL="617050" indent="-308525" lvl="1">
              <a:lnSpc>
                <a:spcPts val="4001"/>
              </a:lnSpc>
              <a:spcBef>
                <a:spcPct val="0"/>
              </a:spcBef>
              <a:buFont typeface="Arial"/>
              <a:buChar char="•"/>
            </a:pPr>
            <a:r>
              <a:rPr lang="en-US" b="true" sz="2858">
                <a:solidFill>
                  <a:srgbClr val="000000"/>
                </a:solidFill>
                <a:latin typeface="JetBrains Mono Bold"/>
                <a:ea typeface="JetBrains Mono Bold"/>
                <a:cs typeface="JetBrains Mono Bold"/>
                <a:sym typeface="JetBrains Mono Bold"/>
              </a:rPr>
              <a:t>BACKGROUND THREAD OPTIMIZATION</a:t>
            </a:r>
          </a:p>
          <a:p>
            <a:pPr algn="l">
              <a:lnSpc>
                <a:spcPts val="4001"/>
              </a:lnSpc>
              <a:spcBef>
                <a:spcPct val="0"/>
              </a:spcBef>
            </a:pPr>
          </a:p>
        </p:txBody>
      </p:sp>
    </p:spTree>
  </p:cSld>
  <p:clrMapOvr>
    <a:masterClrMapping/>
  </p:clrMapOvr>
  <p:transition spd="slow">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7309431">
            <a:off x="1887048" y="-7714292"/>
            <a:ext cx="5578369" cy="16110814"/>
          </a:xfrm>
          <a:custGeom>
            <a:avLst/>
            <a:gdLst/>
            <a:ahLst/>
            <a:cxnLst/>
            <a:rect r="r" b="b" t="t" l="l"/>
            <a:pathLst>
              <a:path h="16110814" w="5578369">
                <a:moveTo>
                  <a:pt x="0" y="0"/>
                </a:moveTo>
                <a:lnTo>
                  <a:pt x="5578369" y="0"/>
                </a:lnTo>
                <a:lnTo>
                  <a:pt x="5578369" y="16110814"/>
                </a:lnTo>
                <a:lnTo>
                  <a:pt x="0" y="16110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60098" y="7951082"/>
            <a:ext cx="6688931" cy="1252464"/>
          </a:xfrm>
          <a:prstGeom prst="rect">
            <a:avLst/>
          </a:prstGeom>
        </p:spPr>
        <p:txBody>
          <a:bodyPr anchor="t" rtlCol="false" tIns="0" lIns="0" bIns="0" rIns="0">
            <a:spAutoFit/>
          </a:bodyPr>
          <a:lstStyle/>
          <a:p>
            <a:pPr algn="l">
              <a:lnSpc>
                <a:spcPts val="10241"/>
              </a:lnSpc>
            </a:pPr>
            <a:r>
              <a:rPr lang="en-US" sz="7315" b="true">
                <a:solidFill>
                  <a:srgbClr val="100F0D"/>
                </a:solidFill>
                <a:latin typeface="JetBrains Mono Bold"/>
                <a:ea typeface="JetBrains Mono Bold"/>
                <a:cs typeface="JetBrains Mono Bold"/>
                <a:sym typeface="JetBrains Mono Bold"/>
              </a:rPr>
              <a:t>Architecture</a:t>
            </a:r>
          </a:p>
        </p:txBody>
      </p:sp>
      <p:sp>
        <p:nvSpPr>
          <p:cNvPr name="Freeform 6" id="6"/>
          <p:cNvSpPr/>
          <p:nvPr/>
        </p:nvSpPr>
        <p:spPr>
          <a:xfrm flipH="false" flipV="false" rot="3823553">
            <a:off x="-2138048" y="390717"/>
            <a:ext cx="3632659" cy="10491433"/>
          </a:xfrm>
          <a:custGeom>
            <a:avLst/>
            <a:gdLst/>
            <a:ahLst/>
            <a:cxnLst/>
            <a:rect r="r" b="b" t="t" l="l"/>
            <a:pathLst>
              <a:path h="10491433" w="3632659">
                <a:moveTo>
                  <a:pt x="0" y="0"/>
                </a:moveTo>
                <a:lnTo>
                  <a:pt x="3632659" y="0"/>
                </a:lnTo>
                <a:lnTo>
                  <a:pt x="3632659" y="10491433"/>
                </a:lnTo>
                <a:lnTo>
                  <a:pt x="0" y="1049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7149029" y="563490"/>
            <a:ext cx="10394052" cy="8640055"/>
          </a:xfrm>
          <a:custGeom>
            <a:avLst/>
            <a:gdLst/>
            <a:ahLst/>
            <a:cxnLst/>
            <a:rect r="r" b="b" t="t" l="l"/>
            <a:pathLst>
              <a:path h="8640055" w="10394052">
                <a:moveTo>
                  <a:pt x="0" y="0"/>
                </a:moveTo>
                <a:lnTo>
                  <a:pt x="10394051" y="0"/>
                </a:lnTo>
                <a:lnTo>
                  <a:pt x="10394051" y="8640056"/>
                </a:lnTo>
                <a:lnTo>
                  <a:pt x="0" y="8640056"/>
                </a:lnTo>
                <a:lnTo>
                  <a:pt x="0" y="0"/>
                </a:lnTo>
                <a:close/>
              </a:path>
            </a:pathLst>
          </a:custGeom>
          <a:blipFill>
            <a:blip r:embed="rId8"/>
            <a:stretch>
              <a:fillRect l="0" t="0" r="0" b="0"/>
            </a:stretch>
          </a:blipFill>
        </p:spPr>
      </p:sp>
    </p:spTree>
  </p:cSld>
  <p:clrMapOvr>
    <a:masterClrMapping/>
  </p:clrMapOvr>
  <p:transition spd="slow">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781035" y="5929103"/>
            <a:ext cx="4247508" cy="3274443"/>
          </a:xfrm>
          <a:custGeom>
            <a:avLst/>
            <a:gdLst/>
            <a:ahLst/>
            <a:cxnLst/>
            <a:rect r="r" b="b" t="t" l="l"/>
            <a:pathLst>
              <a:path h="3274443" w="4247508">
                <a:moveTo>
                  <a:pt x="0" y="0"/>
                </a:moveTo>
                <a:lnTo>
                  <a:pt x="4247509" y="0"/>
                </a:lnTo>
                <a:lnTo>
                  <a:pt x="4247509" y="3274443"/>
                </a:lnTo>
                <a:lnTo>
                  <a:pt x="0" y="32744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39249" y="-542149"/>
            <a:ext cx="5097501" cy="4114800"/>
          </a:xfrm>
          <a:custGeom>
            <a:avLst/>
            <a:gdLst/>
            <a:ahLst/>
            <a:cxnLst/>
            <a:rect r="r" b="b" t="t" l="l"/>
            <a:pathLst>
              <a:path h="4114800" w="5097501">
                <a:moveTo>
                  <a:pt x="0" y="0"/>
                </a:moveTo>
                <a:lnTo>
                  <a:pt x="5097502" y="0"/>
                </a:lnTo>
                <a:lnTo>
                  <a:pt x="509750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6" id="6">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0" t="0" r="0" b="0"/>
          <a:stretch>
            <a:fillRect/>
          </a:stretch>
        </p:blipFill>
        <p:spPr>
          <a:xfrm flipH="false" flipV="false" rot="0">
            <a:off x="411870" y="3031239"/>
            <a:ext cx="11070330" cy="6227061"/>
          </a:xfrm>
          <a:prstGeom prst="rect">
            <a:avLst/>
          </a:prstGeom>
        </p:spPr>
      </p:pic>
      <p:sp>
        <p:nvSpPr>
          <p:cNvPr name="TextBox 7" id="7"/>
          <p:cNvSpPr txBox="true"/>
          <p:nvPr/>
        </p:nvSpPr>
        <p:spPr>
          <a:xfrm rot="0">
            <a:off x="2834630" y="655778"/>
            <a:ext cx="12070160" cy="1500502"/>
          </a:xfrm>
          <a:prstGeom prst="rect">
            <a:avLst/>
          </a:prstGeom>
        </p:spPr>
        <p:txBody>
          <a:bodyPr anchor="t" rtlCol="false" tIns="0" lIns="0" bIns="0" rIns="0">
            <a:spAutoFit/>
          </a:bodyPr>
          <a:lstStyle/>
          <a:p>
            <a:pPr algn="l">
              <a:lnSpc>
                <a:spcPts val="12320"/>
              </a:lnSpc>
            </a:pPr>
            <a:r>
              <a:rPr lang="en-US" sz="8800" b="true">
                <a:solidFill>
                  <a:srgbClr val="100F0D"/>
                </a:solidFill>
                <a:latin typeface="JetBrains Mono Bold"/>
                <a:ea typeface="JetBrains Mono Bold"/>
                <a:cs typeface="JetBrains Mono Bold"/>
                <a:sym typeface="JetBrains Mono Bold"/>
              </a:rPr>
              <a:t>Results &amp; Outcomes</a:t>
            </a:r>
          </a:p>
        </p:txBody>
      </p:sp>
      <p:sp>
        <p:nvSpPr>
          <p:cNvPr name="TextBox 8" id="8"/>
          <p:cNvSpPr txBox="true"/>
          <p:nvPr/>
        </p:nvSpPr>
        <p:spPr>
          <a:xfrm rot="0">
            <a:off x="11739396" y="3534551"/>
            <a:ext cx="6337745" cy="1921343"/>
          </a:xfrm>
          <a:prstGeom prst="rect">
            <a:avLst/>
          </a:prstGeom>
        </p:spPr>
        <p:txBody>
          <a:bodyPr anchor="t" rtlCol="false" tIns="0" lIns="0" bIns="0" rIns="0">
            <a:spAutoFit/>
          </a:bodyPr>
          <a:lstStyle/>
          <a:p>
            <a:pPr algn="l" marL="475179" indent="-237589" lvl="1">
              <a:lnSpc>
                <a:spcPts val="3081"/>
              </a:lnSpc>
              <a:buFont typeface="Arial"/>
              <a:buChar char="•"/>
            </a:pPr>
            <a:r>
              <a:rPr lang="en-US" b="true" sz="2200">
                <a:solidFill>
                  <a:srgbClr val="100F0D"/>
                </a:solidFill>
                <a:latin typeface="JetBrains Mono Bold"/>
                <a:ea typeface="JetBrains Mono Bold"/>
                <a:cs typeface="JetBrains Mono Bold"/>
                <a:sym typeface="JetBrains Mono Bold"/>
              </a:rPr>
              <a:t>A BALANCED THRESHOLD OF 0.60</a:t>
            </a:r>
          </a:p>
          <a:p>
            <a:pPr algn="l" marL="475179" indent="-237589" lvl="1">
              <a:lnSpc>
                <a:spcPts val="3081"/>
              </a:lnSpc>
              <a:buFont typeface="Arial"/>
              <a:buChar char="•"/>
            </a:pPr>
            <a:r>
              <a:rPr lang="en-US" b="true" sz="2200">
                <a:solidFill>
                  <a:srgbClr val="100F0D"/>
                </a:solidFill>
                <a:latin typeface="JetBrains Mono Bold"/>
                <a:ea typeface="JetBrains Mono Bold"/>
                <a:cs typeface="JetBrains Mono Bold"/>
                <a:sym typeface="JetBrains Mono Bold"/>
              </a:rPr>
              <a:t>ACHIEVED 100%</a:t>
            </a:r>
            <a:r>
              <a:rPr lang="en-US" b="true" sz="2200">
                <a:solidFill>
                  <a:srgbClr val="100F0D"/>
                </a:solidFill>
                <a:latin typeface="JetBrains Mono Bold"/>
                <a:ea typeface="JetBrains Mono Bold"/>
                <a:cs typeface="JetBrains Mono Bold"/>
                <a:sym typeface="JetBrains Mono Bold"/>
              </a:rPr>
              <a:t> PROTECTION AGAINST 2D SPOOFING ATTACKS</a:t>
            </a:r>
          </a:p>
          <a:p>
            <a:pPr algn="l" marL="475179" indent="-237589" lvl="1">
              <a:lnSpc>
                <a:spcPts val="3081"/>
              </a:lnSpc>
              <a:buFont typeface="Arial"/>
              <a:buChar char="•"/>
            </a:pPr>
            <a:r>
              <a:rPr lang="en-US" b="true" sz="2200">
                <a:solidFill>
                  <a:srgbClr val="100F0D"/>
                </a:solidFill>
                <a:latin typeface="JetBrains Mono Bold"/>
                <a:ea typeface="JetBrains Mono Bold"/>
                <a:cs typeface="JetBrains Mono Bold"/>
                <a:sym typeface="JetBrains Mono Bold"/>
              </a:rPr>
              <a:t>TRIGGERS ALARMS, SNAPSHOTS, &amp; AUDIT LOGS IN NIGHT MODE</a:t>
            </a:r>
          </a:p>
        </p:txBody>
      </p:sp>
    </p:spTree>
  </p:cSld>
  <p:clrMapOvr>
    <a:masterClrMapping/>
  </p:clrMapOvr>
  <p:transition spd="slow">
    <p:fade/>
  </p:transition>
  <p:timing>
    <p:tnLst>
      <p:par>
        <p:cTn dur="indefinite" restart="never" nodeType="tmRoot">
          <p:childTnLst>
            <p:video>
              <p:cMediaNode vol="0">
                <p:cTn fill="hold" display="false">
                  <p:stCondLst>
                    <p:cond delay="indefinite"/>
                  </p:stCondLst>
                </p:cTn>
                <p:tgtEl>
                  <p:spTgt spid="6"/>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575632" y="740219"/>
            <a:ext cx="7543443" cy="1682119"/>
          </a:xfrm>
          <a:prstGeom prst="rect">
            <a:avLst/>
          </a:prstGeom>
        </p:spPr>
        <p:txBody>
          <a:bodyPr anchor="t" rtlCol="false" tIns="0" lIns="0" bIns="0" rIns="0">
            <a:spAutoFit/>
          </a:bodyPr>
          <a:lstStyle/>
          <a:p>
            <a:pPr algn="l">
              <a:lnSpc>
                <a:spcPts val="13859"/>
              </a:lnSpc>
            </a:pPr>
            <a:r>
              <a:rPr lang="en-US" sz="9899" b="true">
                <a:solidFill>
                  <a:srgbClr val="100F0D"/>
                </a:solidFill>
                <a:latin typeface="JetBrains Mono Bold"/>
                <a:ea typeface="JetBrains Mono Bold"/>
                <a:cs typeface="JetBrains Mono Bold"/>
                <a:sym typeface="JetBrains Mono Bold"/>
              </a:rPr>
              <a:t>Challenges</a:t>
            </a:r>
          </a:p>
        </p:txBody>
      </p:sp>
      <p:sp>
        <p:nvSpPr>
          <p:cNvPr name="Freeform 5" id="5"/>
          <p:cNvSpPr/>
          <p:nvPr/>
        </p:nvSpPr>
        <p:spPr>
          <a:xfrm flipH="false" flipV="false" rot="4061897">
            <a:off x="-1282844" y="-2706532"/>
            <a:ext cx="4782552" cy="7255452"/>
          </a:xfrm>
          <a:custGeom>
            <a:avLst/>
            <a:gdLst/>
            <a:ahLst/>
            <a:cxnLst/>
            <a:rect r="r" b="b" t="t" l="l"/>
            <a:pathLst>
              <a:path h="7255452" w="4782552">
                <a:moveTo>
                  <a:pt x="0" y="0"/>
                </a:moveTo>
                <a:lnTo>
                  <a:pt x="4782552" y="0"/>
                </a:lnTo>
                <a:lnTo>
                  <a:pt x="4782552" y="7255452"/>
                </a:lnTo>
                <a:lnTo>
                  <a:pt x="0" y="7255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199665" y="3064367"/>
            <a:ext cx="13375754" cy="5968401"/>
            <a:chOff x="0" y="0"/>
            <a:chExt cx="17834339" cy="7957868"/>
          </a:xfrm>
        </p:grpSpPr>
        <p:sp>
          <p:nvSpPr>
            <p:cNvPr name="Freeform 7" id="7"/>
            <p:cNvSpPr/>
            <p:nvPr/>
          </p:nvSpPr>
          <p:spPr>
            <a:xfrm flipH="false" flipV="false" rot="0">
              <a:off x="0"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876471"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9" id="9"/>
          <p:cNvSpPr/>
          <p:nvPr/>
        </p:nvSpPr>
        <p:spPr>
          <a:xfrm flipH="false" flipV="false" rot="-7309431">
            <a:off x="-7664579" y="-982927"/>
            <a:ext cx="5578369" cy="16110814"/>
          </a:xfrm>
          <a:custGeom>
            <a:avLst/>
            <a:gdLst/>
            <a:ahLst/>
            <a:cxnLst/>
            <a:rect r="r" b="b" t="t" l="l"/>
            <a:pathLst>
              <a:path h="16110814" w="5578369">
                <a:moveTo>
                  <a:pt x="0" y="0"/>
                </a:moveTo>
                <a:lnTo>
                  <a:pt x="5578370" y="0"/>
                </a:lnTo>
                <a:lnTo>
                  <a:pt x="5578370" y="16110815"/>
                </a:lnTo>
                <a:lnTo>
                  <a:pt x="0" y="16110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28332" y="3059499"/>
            <a:ext cx="5968401" cy="5968401"/>
          </a:xfrm>
          <a:custGeom>
            <a:avLst/>
            <a:gdLst/>
            <a:ahLst/>
            <a:cxnLst/>
            <a:rect r="r" b="b" t="t" l="l"/>
            <a:pathLst>
              <a:path h="5968401" w="5968401">
                <a:moveTo>
                  <a:pt x="0" y="0"/>
                </a:moveTo>
                <a:lnTo>
                  <a:pt x="5968401" y="0"/>
                </a:lnTo>
                <a:lnTo>
                  <a:pt x="5968401" y="5968401"/>
                </a:lnTo>
                <a:lnTo>
                  <a:pt x="0" y="596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09697" y="3502286"/>
            <a:ext cx="9868605" cy="5092564"/>
            <a:chOff x="0" y="0"/>
            <a:chExt cx="13158140" cy="6790085"/>
          </a:xfrm>
        </p:grpSpPr>
        <p:sp>
          <p:nvSpPr>
            <p:cNvPr name="Freeform 12" id="12"/>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4" id="14"/>
          <p:cNvGrpSpPr/>
          <p:nvPr/>
        </p:nvGrpSpPr>
        <p:grpSpPr>
          <a:xfrm rot="0">
            <a:off x="5575632" y="3497418"/>
            <a:ext cx="9868605" cy="5092564"/>
            <a:chOff x="0" y="0"/>
            <a:chExt cx="13158140" cy="6790085"/>
          </a:xfrm>
        </p:grpSpPr>
        <p:sp>
          <p:nvSpPr>
            <p:cNvPr name="Freeform 15" id="15"/>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17" id="17"/>
          <p:cNvSpPr txBox="true"/>
          <p:nvPr/>
        </p:nvSpPr>
        <p:spPr>
          <a:xfrm rot="0">
            <a:off x="4851905" y="4234282"/>
            <a:ext cx="10121256" cy="3580736"/>
          </a:xfrm>
          <a:prstGeom prst="rect">
            <a:avLst/>
          </a:prstGeom>
        </p:spPr>
        <p:txBody>
          <a:bodyPr anchor="t" rtlCol="false" tIns="0" lIns="0" bIns="0" rIns="0">
            <a:spAutoFit/>
          </a:bodyPr>
          <a:lstStyle/>
          <a:p>
            <a:pPr algn="l">
              <a:lnSpc>
                <a:spcPts val="3186"/>
              </a:lnSpc>
            </a:pPr>
            <a:r>
              <a:rPr lang="en-US" sz="2276" b="true">
                <a:solidFill>
                  <a:srgbClr val="100F0D"/>
                </a:solidFill>
                <a:latin typeface="JetBrains Mono Bold"/>
                <a:ea typeface="JetBrains Mono Bold"/>
                <a:cs typeface="JetBrains Mono Bold"/>
                <a:sym typeface="JetBrains Mono Bold"/>
              </a:rPr>
              <a:t>1) Group Photo Face Detection</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Small/distant faces &amp; complex backgrounds caused “ghost” face detections</a:t>
            </a:r>
          </a:p>
          <a:p>
            <a:pPr algn="l">
              <a:lnSpc>
                <a:spcPts val="3186"/>
              </a:lnSpc>
            </a:pPr>
            <a:r>
              <a:rPr lang="en-US" sz="2276" b="true">
                <a:solidFill>
                  <a:srgbClr val="017FA4"/>
                </a:solidFill>
                <a:latin typeface="JetBrains Mono Bold"/>
                <a:ea typeface="JetBrains Mono Bold"/>
                <a:cs typeface="JetBrains Mono Bold"/>
                <a:sym typeface="JetBrains Mono Bold"/>
              </a:rPr>
              <a:t>Solution:</a:t>
            </a:r>
            <a:r>
              <a:rPr lang="en-US" sz="2276">
                <a:solidFill>
                  <a:srgbClr val="100F0D"/>
                </a:solidFill>
                <a:latin typeface="JetBrains Mono"/>
                <a:ea typeface="JetBrains Mono"/>
                <a:cs typeface="JetBrains Mono"/>
                <a:sym typeface="JetBrains Mono"/>
              </a:rPr>
              <a:t> </a:t>
            </a:r>
            <a:r>
              <a:rPr lang="en-US" sz="2276">
                <a:solidFill>
                  <a:srgbClr val="100F0D"/>
                </a:solidFill>
                <a:latin typeface="JetBrains Mono"/>
                <a:ea typeface="JetBrains Mono"/>
                <a:cs typeface="JetBrains Mono"/>
                <a:sym typeface="JetBrains Mono"/>
              </a:rPr>
              <a:t>Tune detector settings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scaleFactor = 1.02 → finer 2% scanning ⟶ accuracy</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minNeighbors = 12 → stronger voting threshold </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minSize = (100,100) → ignores tiny detections</a:t>
            </a:r>
          </a:p>
          <a:p>
            <a:pPr algn="l" marL="491416" indent="-245708" lvl="1">
              <a:lnSpc>
                <a:spcPts val="3186"/>
              </a:lnSpc>
              <a:spcBef>
                <a:spcPct val="0"/>
              </a:spcBef>
              <a:buFont typeface="Arial"/>
              <a:buChar char="•"/>
            </a:pPr>
            <a:r>
              <a:rPr lang="en-US" sz="2276">
                <a:solidFill>
                  <a:srgbClr val="100F0D"/>
                </a:solidFill>
                <a:latin typeface="JetBrains Mono"/>
                <a:ea typeface="JetBrains Mono"/>
                <a:cs typeface="JetBrains Mono"/>
                <a:sym typeface="JetBrains Mono"/>
              </a:rPr>
              <a:t>Aspect ratio filtering (0.75≤R≤1.3) to reject stretched background objects</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575632" y="740219"/>
            <a:ext cx="7543443" cy="1682119"/>
          </a:xfrm>
          <a:prstGeom prst="rect">
            <a:avLst/>
          </a:prstGeom>
        </p:spPr>
        <p:txBody>
          <a:bodyPr anchor="t" rtlCol="false" tIns="0" lIns="0" bIns="0" rIns="0">
            <a:spAutoFit/>
          </a:bodyPr>
          <a:lstStyle/>
          <a:p>
            <a:pPr algn="l">
              <a:lnSpc>
                <a:spcPts val="13859"/>
              </a:lnSpc>
            </a:pPr>
            <a:r>
              <a:rPr lang="en-US" sz="9899" b="true">
                <a:solidFill>
                  <a:srgbClr val="100F0D"/>
                </a:solidFill>
                <a:latin typeface="JetBrains Mono Bold"/>
                <a:ea typeface="JetBrains Mono Bold"/>
                <a:cs typeface="JetBrains Mono Bold"/>
                <a:sym typeface="JetBrains Mono Bold"/>
              </a:rPr>
              <a:t>Challenges</a:t>
            </a:r>
          </a:p>
        </p:txBody>
      </p:sp>
      <p:sp>
        <p:nvSpPr>
          <p:cNvPr name="Freeform 5" id="5"/>
          <p:cNvSpPr/>
          <p:nvPr/>
        </p:nvSpPr>
        <p:spPr>
          <a:xfrm flipH="false" flipV="false" rot="4061897">
            <a:off x="-1282844" y="-2706532"/>
            <a:ext cx="4782552" cy="7255452"/>
          </a:xfrm>
          <a:custGeom>
            <a:avLst/>
            <a:gdLst/>
            <a:ahLst/>
            <a:cxnLst/>
            <a:rect r="r" b="b" t="t" l="l"/>
            <a:pathLst>
              <a:path h="7255452" w="4782552">
                <a:moveTo>
                  <a:pt x="0" y="0"/>
                </a:moveTo>
                <a:lnTo>
                  <a:pt x="4782552" y="0"/>
                </a:lnTo>
                <a:lnTo>
                  <a:pt x="4782552" y="7255452"/>
                </a:lnTo>
                <a:lnTo>
                  <a:pt x="0" y="7255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199665" y="3064367"/>
            <a:ext cx="13375754" cy="5968401"/>
            <a:chOff x="0" y="0"/>
            <a:chExt cx="17834339" cy="7957868"/>
          </a:xfrm>
        </p:grpSpPr>
        <p:sp>
          <p:nvSpPr>
            <p:cNvPr name="Freeform 7" id="7"/>
            <p:cNvSpPr/>
            <p:nvPr/>
          </p:nvSpPr>
          <p:spPr>
            <a:xfrm flipH="false" flipV="false" rot="0">
              <a:off x="0"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876471"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9" id="9"/>
          <p:cNvSpPr/>
          <p:nvPr/>
        </p:nvSpPr>
        <p:spPr>
          <a:xfrm flipH="false" flipV="false" rot="-7309431">
            <a:off x="-7664579" y="-982927"/>
            <a:ext cx="5578369" cy="16110814"/>
          </a:xfrm>
          <a:custGeom>
            <a:avLst/>
            <a:gdLst/>
            <a:ahLst/>
            <a:cxnLst/>
            <a:rect r="r" b="b" t="t" l="l"/>
            <a:pathLst>
              <a:path h="16110814" w="5578369">
                <a:moveTo>
                  <a:pt x="0" y="0"/>
                </a:moveTo>
                <a:lnTo>
                  <a:pt x="5578370" y="0"/>
                </a:lnTo>
                <a:lnTo>
                  <a:pt x="5578370" y="16110815"/>
                </a:lnTo>
                <a:lnTo>
                  <a:pt x="0" y="16110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28332" y="3059499"/>
            <a:ext cx="5968401" cy="5968401"/>
          </a:xfrm>
          <a:custGeom>
            <a:avLst/>
            <a:gdLst/>
            <a:ahLst/>
            <a:cxnLst/>
            <a:rect r="r" b="b" t="t" l="l"/>
            <a:pathLst>
              <a:path h="5968401" w="5968401">
                <a:moveTo>
                  <a:pt x="0" y="0"/>
                </a:moveTo>
                <a:lnTo>
                  <a:pt x="5968401" y="0"/>
                </a:lnTo>
                <a:lnTo>
                  <a:pt x="5968401" y="5968401"/>
                </a:lnTo>
                <a:lnTo>
                  <a:pt x="0" y="596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09697" y="3502286"/>
            <a:ext cx="9868605" cy="5092564"/>
            <a:chOff x="0" y="0"/>
            <a:chExt cx="13158140" cy="6790085"/>
          </a:xfrm>
        </p:grpSpPr>
        <p:sp>
          <p:nvSpPr>
            <p:cNvPr name="Freeform 12" id="12"/>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4" id="14"/>
          <p:cNvGrpSpPr/>
          <p:nvPr/>
        </p:nvGrpSpPr>
        <p:grpSpPr>
          <a:xfrm rot="0">
            <a:off x="5575632" y="3497418"/>
            <a:ext cx="9868605" cy="5092564"/>
            <a:chOff x="0" y="0"/>
            <a:chExt cx="13158140" cy="6790085"/>
          </a:xfrm>
        </p:grpSpPr>
        <p:sp>
          <p:nvSpPr>
            <p:cNvPr name="Freeform 15" id="15"/>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17" id="17"/>
          <p:cNvSpPr txBox="true"/>
          <p:nvPr/>
        </p:nvSpPr>
        <p:spPr>
          <a:xfrm rot="0">
            <a:off x="4826914" y="4239150"/>
            <a:ext cx="10121256" cy="3580736"/>
          </a:xfrm>
          <a:prstGeom prst="rect">
            <a:avLst/>
          </a:prstGeom>
        </p:spPr>
        <p:txBody>
          <a:bodyPr anchor="t" rtlCol="false" tIns="0" lIns="0" bIns="0" rIns="0">
            <a:spAutoFit/>
          </a:bodyPr>
          <a:lstStyle/>
          <a:p>
            <a:pPr algn="l">
              <a:lnSpc>
                <a:spcPts val="3186"/>
              </a:lnSpc>
            </a:pPr>
            <a:r>
              <a:rPr lang="en-US" sz="2276" b="true">
                <a:solidFill>
                  <a:srgbClr val="100F0D"/>
                </a:solidFill>
                <a:latin typeface="JetBrains Mono Bold"/>
                <a:ea typeface="JetBrains Mono Bold"/>
                <a:cs typeface="JetBrains Mono Bold"/>
                <a:sym typeface="JetBrains Mono Bold"/>
              </a:rPr>
              <a:t>2) Cross-Domain Image Bias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Webcam frames had low resolution &amp; blur, while smartphone images had high quality and dist</a:t>
            </a:r>
            <a:r>
              <a:rPr lang="en-US" sz="2276">
                <a:solidFill>
                  <a:srgbClr val="100F0D"/>
                </a:solidFill>
                <a:latin typeface="JetBrains Mono"/>
                <a:ea typeface="JetBrains Mono"/>
                <a:cs typeface="JetBrains Mono"/>
                <a:sym typeface="JetBrains Mono"/>
              </a:rPr>
              <a:t>o</a:t>
            </a:r>
            <a:r>
              <a:rPr lang="en-US" sz="2276">
                <a:solidFill>
                  <a:srgbClr val="100F0D"/>
                </a:solidFill>
                <a:latin typeface="JetBrains Mono"/>
                <a:ea typeface="JetBrains Mono"/>
                <a:cs typeface="JetBrains Mono"/>
                <a:sym typeface="JetBrains Mono"/>
              </a:rPr>
              <a:t>r</a:t>
            </a:r>
            <a:r>
              <a:rPr lang="en-US" sz="2276">
                <a:solidFill>
                  <a:srgbClr val="100F0D"/>
                </a:solidFill>
                <a:latin typeface="JetBrains Mono"/>
                <a:ea typeface="JetBrains Mono"/>
                <a:cs typeface="JetBrains Mono"/>
                <a:sym typeface="JetBrains Mono"/>
              </a:rPr>
              <a:t>tion</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Fac</a:t>
            </a:r>
            <a:r>
              <a:rPr lang="en-US" sz="2276">
                <a:solidFill>
                  <a:srgbClr val="100F0D"/>
                </a:solidFill>
                <a:latin typeface="JetBrains Mono"/>
                <a:ea typeface="JetBrains Mono"/>
                <a:cs typeface="JetBrains Mono"/>
                <a:sym typeface="JetBrains Mono"/>
              </a:rPr>
              <a:t>eNet sometimes misidentified known users across different image sources</a:t>
            </a:r>
          </a:p>
          <a:p>
            <a:pPr algn="l">
              <a:lnSpc>
                <a:spcPts val="3186"/>
              </a:lnSpc>
            </a:pPr>
            <a:r>
              <a:rPr lang="en-US" sz="2276" b="true">
                <a:solidFill>
                  <a:srgbClr val="017FA4"/>
                </a:solidFill>
                <a:latin typeface="JetBrains Mono Bold"/>
                <a:ea typeface="JetBrains Mono Bold"/>
                <a:cs typeface="JetBrains Mono Bold"/>
                <a:sym typeface="JetBrains Mono Bold"/>
              </a:rPr>
              <a:t>Solution:</a:t>
            </a:r>
            <a:r>
              <a:rPr lang="en-US" sz="2276">
                <a:solidFill>
                  <a:srgbClr val="100F0D"/>
                </a:solidFill>
                <a:latin typeface="JetBrains Mono"/>
                <a:ea typeface="JetBrains Mono"/>
                <a:cs typeface="JetBrains Mono"/>
                <a:sym typeface="JetBrains Mono"/>
              </a:rPr>
              <a:t> Use separate thresholds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0.60 for live webcam tracking</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0.72 for uploaded/static images</a:t>
            </a:r>
          </a:p>
          <a:p>
            <a:pPr algn="l">
              <a:lnSpc>
                <a:spcPts val="3186"/>
              </a:lnSpc>
              <a:spcBef>
                <a:spcPct val="0"/>
              </a:spcBef>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575632" y="740219"/>
            <a:ext cx="7543443" cy="1682119"/>
          </a:xfrm>
          <a:prstGeom prst="rect">
            <a:avLst/>
          </a:prstGeom>
        </p:spPr>
        <p:txBody>
          <a:bodyPr anchor="t" rtlCol="false" tIns="0" lIns="0" bIns="0" rIns="0">
            <a:spAutoFit/>
          </a:bodyPr>
          <a:lstStyle/>
          <a:p>
            <a:pPr algn="l">
              <a:lnSpc>
                <a:spcPts val="13859"/>
              </a:lnSpc>
            </a:pPr>
            <a:r>
              <a:rPr lang="en-US" sz="9899" b="true">
                <a:solidFill>
                  <a:srgbClr val="100F0D"/>
                </a:solidFill>
                <a:latin typeface="JetBrains Mono Bold"/>
                <a:ea typeface="JetBrains Mono Bold"/>
                <a:cs typeface="JetBrains Mono Bold"/>
                <a:sym typeface="JetBrains Mono Bold"/>
              </a:rPr>
              <a:t>Challenges</a:t>
            </a:r>
          </a:p>
        </p:txBody>
      </p:sp>
      <p:sp>
        <p:nvSpPr>
          <p:cNvPr name="Freeform 5" id="5"/>
          <p:cNvSpPr/>
          <p:nvPr/>
        </p:nvSpPr>
        <p:spPr>
          <a:xfrm flipH="false" flipV="false" rot="4061897">
            <a:off x="-1282844" y="-2706532"/>
            <a:ext cx="4782552" cy="7255452"/>
          </a:xfrm>
          <a:custGeom>
            <a:avLst/>
            <a:gdLst/>
            <a:ahLst/>
            <a:cxnLst/>
            <a:rect r="r" b="b" t="t" l="l"/>
            <a:pathLst>
              <a:path h="7255452" w="4782552">
                <a:moveTo>
                  <a:pt x="0" y="0"/>
                </a:moveTo>
                <a:lnTo>
                  <a:pt x="4782552" y="0"/>
                </a:lnTo>
                <a:lnTo>
                  <a:pt x="4782552" y="7255452"/>
                </a:lnTo>
                <a:lnTo>
                  <a:pt x="0" y="7255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199665" y="3064367"/>
            <a:ext cx="13375754" cy="5968401"/>
            <a:chOff x="0" y="0"/>
            <a:chExt cx="17834339" cy="7957868"/>
          </a:xfrm>
        </p:grpSpPr>
        <p:sp>
          <p:nvSpPr>
            <p:cNvPr name="Freeform 7" id="7"/>
            <p:cNvSpPr/>
            <p:nvPr/>
          </p:nvSpPr>
          <p:spPr>
            <a:xfrm flipH="false" flipV="false" rot="0">
              <a:off x="0"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876471"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9" id="9"/>
          <p:cNvSpPr/>
          <p:nvPr/>
        </p:nvSpPr>
        <p:spPr>
          <a:xfrm flipH="false" flipV="false" rot="-7309431">
            <a:off x="-7664579" y="-982927"/>
            <a:ext cx="5578369" cy="16110814"/>
          </a:xfrm>
          <a:custGeom>
            <a:avLst/>
            <a:gdLst/>
            <a:ahLst/>
            <a:cxnLst/>
            <a:rect r="r" b="b" t="t" l="l"/>
            <a:pathLst>
              <a:path h="16110814" w="5578369">
                <a:moveTo>
                  <a:pt x="0" y="0"/>
                </a:moveTo>
                <a:lnTo>
                  <a:pt x="5578370" y="0"/>
                </a:lnTo>
                <a:lnTo>
                  <a:pt x="5578370" y="16110815"/>
                </a:lnTo>
                <a:lnTo>
                  <a:pt x="0" y="16110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28332" y="3059499"/>
            <a:ext cx="5968401" cy="5968401"/>
          </a:xfrm>
          <a:custGeom>
            <a:avLst/>
            <a:gdLst/>
            <a:ahLst/>
            <a:cxnLst/>
            <a:rect r="r" b="b" t="t" l="l"/>
            <a:pathLst>
              <a:path h="5968401" w="5968401">
                <a:moveTo>
                  <a:pt x="0" y="0"/>
                </a:moveTo>
                <a:lnTo>
                  <a:pt x="5968401" y="0"/>
                </a:lnTo>
                <a:lnTo>
                  <a:pt x="5968401" y="5968401"/>
                </a:lnTo>
                <a:lnTo>
                  <a:pt x="0" y="596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09697" y="3502286"/>
            <a:ext cx="9868605" cy="5092564"/>
            <a:chOff x="0" y="0"/>
            <a:chExt cx="13158140" cy="6790085"/>
          </a:xfrm>
        </p:grpSpPr>
        <p:sp>
          <p:nvSpPr>
            <p:cNvPr name="Freeform 12" id="12"/>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4" id="14"/>
          <p:cNvGrpSpPr/>
          <p:nvPr/>
        </p:nvGrpSpPr>
        <p:grpSpPr>
          <a:xfrm rot="0">
            <a:off x="5575632" y="3497418"/>
            <a:ext cx="9868605" cy="5092564"/>
            <a:chOff x="0" y="0"/>
            <a:chExt cx="13158140" cy="6790085"/>
          </a:xfrm>
        </p:grpSpPr>
        <p:sp>
          <p:nvSpPr>
            <p:cNvPr name="Freeform 15" id="15"/>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17" id="17"/>
          <p:cNvSpPr txBox="true"/>
          <p:nvPr/>
        </p:nvSpPr>
        <p:spPr>
          <a:xfrm rot="0">
            <a:off x="4826914" y="4239150"/>
            <a:ext cx="10121256" cy="3580736"/>
          </a:xfrm>
          <a:prstGeom prst="rect">
            <a:avLst/>
          </a:prstGeom>
        </p:spPr>
        <p:txBody>
          <a:bodyPr anchor="t" rtlCol="false" tIns="0" lIns="0" bIns="0" rIns="0">
            <a:spAutoFit/>
          </a:bodyPr>
          <a:lstStyle/>
          <a:p>
            <a:pPr algn="l">
              <a:lnSpc>
                <a:spcPts val="3186"/>
              </a:lnSpc>
            </a:pPr>
            <a:r>
              <a:rPr lang="en-US" sz="2276" b="true">
                <a:solidFill>
                  <a:srgbClr val="100F0D"/>
                </a:solidFill>
                <a:latin typeface="JetBrains Mono Bold"/>
                <a:ea typeface="JetBrains Mono Bold"/>
                <a:cs typeface="JetBrains Mono Bold"/>
                <a:sym typeface="JetBrains Mono Bold"/>
              </a:rPr>
              <a:t>3) 3D Spoofing vs User Convenience</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Added liveness checks (blink + head movement detection) to stop photo attacks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Dim lighting sometimes caused landmark detection failures and slower access</a:t>
            </a:r>
          </a:p>
          <a:p>
            <a:pPr algn="l">
              <a:lnSpc>
                <a:spcPts val="3186"/>
              </a:lnSpc>
            </a:pPr>
            <a:r>
              <a:rPr lang="en-US" sz="2276" b="true">
                <a:solidFill>
                  <a:srgbClr val="017FA4"/>
                </a:solidFill>
                <a:latin typeface="JetBrains Mono Bold"/>
                <a:ea typeface="JetBrains Mono Bold"/>
                <a:cs typeface="JetBrains Mono Bold"/>
                <a:sym typeface="JetBrains Mono Bold"/>
              </a:rPr>
              <a:t>Solution:</a:t>
            </a:r>
            <a:r>
              <a:rPr lang="en-US" sz="2276">
                <a:solidFill>
                  <a:srgbClr val="100F0D"/>
                </a:solidFill>
                <a:latin typeface="JetBrains Mono"/>
                <a:ea typeface="JetBrains Mono"/>
                <a:cs typeface="JetBrains Mono"/>
                <a:sym typeface="JetBrains Mono"/>
              </a:rPr>
              <a:t> </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Lazy-loading dlib models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Adding visual guidance (eye contours + tracking bar)</a:t>
            </a:r>
          </a:p>
          <a:p>
            <a:pPr algn="l">
              <a:lnSpc>
                <a:spcPts val="3186"/>
              </a:lnSpc>
              <a:spcBef>
                <a:spcPct val="0"/>
              </a:spcBef>
            </a:pP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5575632" y="740219"/>
            <a:ext cx="7543443" cy="1682119"/>
          </a:xfrm>
          <a:prstGeom prst="rect">
            <a:avLst/>
          </a:prstGeom>
        </p:spPr>
        <p:txBody>
          <a:bodyPr anchor="t" rtlCol="false" tIns="0" lIns="0" bIns="0" rIns="0">
            <a:spAutoFit/>
          </a:bodyPr>
          <a:lstStyle/>
          <a:p>
            <a:pPr algn="l">
              <a:lnSpc>
                <a:spcPts val="13859"/>
              </a:lnSpc>
            </a:pPr>
            <a:r>
              <a:rPr lang="en-US" sz="9899" b="true">
                <a:solidFill>
                  <a:srgbClr val="100F0D"/>
                </a:solidFill>
                <a:latin typeface="JetBrains Mono Bold"/>
                <a:ea typeface="JetBrains Mono Bold"/>
                <a:cs typeface="JetBrains Mono Bold"/>
                <a:sym typeface="JetBrains Mono Bold"/>
              </a:rPr>
              <a:t>Challenges</a:t>
            </a:r>
          </a:p>
        </p:txBody>
      </p:sp>
      <p:sp>
        <p:nvSpPr>
          <p:cNvPr name="Freeform 5" id="5"/>
          <p:cNvSpPr/>
          <p:nvPr/>
        </p:nvSpPr>
        <p:spPr>
          <a:xfrm flipH="false" flipV="false" rot="4061897">
            <a:off x="-1282844" y="-2706532"/>
            <a:ext cx="4782552" cy="7255452"/>
          </a:xfrm>
          <a:custGeom>
            <a:avLst/>
            <a:gdLst/>
            <a:ahLst/>
            <a:cxnLst/>
            <a:rect r="r" b="b" t="t" l="l"/>
            <a:pathLst>
              <a:path h="7255452" w="4782552">
                <a:moveTo>
                  <a:pt x="0" y="0"/>
                </a:moveTo>
                <a:lnTo>
                  <a:pt x="4782552" y="0"/>
                </a:lnTo>
                <a:lnTo>
                  <a:pt x="4782552" y="7255452"/>
                </a:lnTo>
                <a:lnTo>
                  <a:pt x="0" y="72554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3199665" y="3064367"/>
            <a:ext cx="13375754" cy="5968401"/>
            <a:chOff x="0" y="0"/>
            <a:chExt cx="17834339" cy="7957868"/>
          </a:xfrm>
        </p:grpSpPr>
        <p:sp>
          <p:nvSpPr>
            <p:cNvPr name="Freeform 7" id="7"/>
            <p:cNvSpPr/>
            <p:nvPr/>
          </p:nvSpPr>
          <p:spPr>
            <a:xfrm flipH="false" flipV="false" rot="0">
              <a:off x="0"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876471" y="0"/>
              <a:ext cx="7957868" cy="7957868"/>
            </a:xfrm>
            <a:custGeom>
              <a:avLst/>
              <a:gdLst/>
              <a:ahLst/>
              <a:cxnLst/>
              <a:rect r="r" b="b" t="t" l="l"/>
              <a:pathLst>
                <a:path h="7957868" w="7957868">
                  <a:moveTo>
                    <a:pt x="0" y="0"/>
                  </a:moveTo>
                  <a:lnTo>
                    <a:pt x="7957868" y="0"/>
                  </a:lnTo>
                  <a:lnTo>
                    <a:pt x="7957868" y="7957868"/>
                  </a:lnTo>
                  <a:lnTo>
                    <a:pt x="0" y="79578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9" id="9"/>
          <p:cNvSpPr/>
          <p:nvPr/>
        </p:nvSpPr>
        <p:spPr>
          <a:xfrm flipH="false" flipV="false" rot="-7309431">
            <a:off x="-7664579" y="-982927"/>
            <a:ext cx="5578369" cy="16110814"/>
          </a:xfrm>
          <a:custGeom>
            <a:avLst/>
            <a:gdLst/>
            <a:ahLst/>
            <a:cxnLst/>
            <a:rect r="r" b="b" t="t" l="l"/>
            <a:pathLst>
              <a:path h="16110814" w="5578369">
                <a:moveTo>
                  <a:pt x="0" y="0"/>
                </a:moveTo>
                <a:lnTo>
                  <a:pt x="5578370" y="0"/>
                </a:lnTo>
                <a:lnTo>
                  <a:pt x="5578370" y="16110815"/>
                </a:lnTo>
                <a:lnTo>
                  <a:pt x="0" y="161108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928332" y="3059499"/>
            <a:ext cx="5968401" cy="5968401"/>
          </a:xfrm>
          <a:custGeom>
            <a:avLst/>
            <a:gdLst/>
            <a:ahLst/>
            <a:cxnLst/>
            <a:rect r="r" b="b" t="t" l="l"/>
            <a:pathLst>
              <a:path h="5968401" w="5968401">
                <a:moveTo>
                  <a:pt x="0" y="0"/>
                </a:moveTo>
                <a:lnTo>
                  <a:pt x="5968401" y="0"/>
                </a:lnTo>
                <a:lnTo>
                  <a:pt x="5968401" y="5968401"/>
                </a:lnTo>
                <a:lnTo>
                  <a:pt x="0" y="59684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09697" y="3502286"/>
            <a:ext cx="9868605" cy="5092564"/>
            <a:chOff x="0" y="0"/>
            <a:chExt cx="13158140" cy="6790085"/>
          </a:xfrm>
        </p:grpSpPr>
        <p:sp>
          <p:nvSpPr>
            <p:cNvPr name="Freeform 12" id="12"/>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14" id="14"/>
          <p:cNvGrpSpPr/>
          <p:nvPr/>
        </p:nvGrpSpPr>
        <p:grpSpPr>
          <a:xfrm rot="0">
            <a:off x="5575632" y="3497418"/>
            <a:ext cx="9868605" cy="5092564"/>
            <a:chOff x="0" y="0"/>
            <a:chExt cx="13158140" cy="6790085"/>
          </a:xfrm>
        </p:grpSpPr>
        <p:sp>
          <p:nvSpPr>
            <p:cNvPr name="Freeform 15" id="15"/>
            <p:cNvSpPr/>
            <p:nvPr/>
          </p:nvSpPr>
          <p:spPr>
            <a:xfrm flipH="false" flipV="false" rot="0">
              <a:off x="0" y="0"/>
              <a:ext cx="6790085" cy="6790085"/>
            </a:xfrm>
            <a:custGeom>
              <a:avLst/>
              <a:gdLst/>
              <a:ahLst/>
              <a:cxnLst/>
              <a:rect r="r" b="b" t="t" l="l"/>
              <a:pathLst>
                <a:path h="6790085" w="6790085">
                  <a:moveTo>
                    <a:pt x="0" y="0"/>
                  </a:moveTo>
                  <a:lnTo>
                    <a:pt x="6790085" y="0"/>
                  </a:lnTo>
                  <a:lnTo>
                    <a:pt x="6790085"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368056" y="0"/>
              <a:ext cx="6790085" cy="6790085"/>
            </a:xfrm>
            <a:custGeom>
              <a:avLst/>
              <a:gdLst/>
              <a:ahLst/>
              <a:cxnLst/>
              <a:rect r="r" b="b" t="t" l="l"/>
              <a:pathLst>
                <a:path h="6790085" w="6790085">
                  <a:moveTo>
                    <a:pt x="0" y="0"/>
                  </a:moveTo>
                  <a:lnTo>
                    <a:pt x="6790084" y="0"/>
                  </a:lnTo>
                  <a:lnTo>
                    <a:pt x="6790084" y="6790085"/>
                  </a:lnTo>
                  <a:lnTo>
                    <a:pt x="0" y="67900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sp>
        <p:nvSpPr>
          <p:cNvPr name="TextBox 17" id="17"/>
          <p:cNvSpPr txBox="true"/>
          <p:nvPr/>
        </p:nvSpPr>
        <p:spPr>
          <a:xfrm rot="0">
            <a:off x="4826914" y="4039125"/>
            <a:ext cx="10121256" cy="3980786"/>
          </a:xfrm>
          <a:prstGeom prst="rect">
            <a:avLst/>
          </a:prstGeom>
        </p:spPr>
        <p:txBody>
          <a:bodyPr anchor="t" rtlCol="false" tIns="0" lIns="0" bIns="0" rIns="0">
            <a:spAutoFit/>
          </a:bodyPr>
          <a:lstStyle/>
          <a:p>
            <a:pPr algn="l">
              <a:lnSpc>
                <a:spcPts val="3186"/>
              </a:lnSpc>
            </a:pPr>
            <a:r>
              <a:rPr lang="en-US" sz="2276" b="true">
                <a:solidFill>
                  <a:srgbClr val="100F0D"/>
                </a:solidFill>
                <a:latin typeface="JetBrains Mono Bold"/>
                <a:ea typeface="JetBrains Mono Bold"/>
                <a:cs typeface="JetBrains Mono Bold"/>
                <a:sym typeface="JetBrains Mono Bold"/>
              </a:rPr>
              <a:t>4) Network Latency &amp; Camera Freezing</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Sending email alerts froze the OpenCV feed for 2–3 seconds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Caused by blocking internet requests inside the main loop</a:t>
            </a:r>
          </a:p>
          <a:p>
            <a:pPr algn="l">
              <a:lnSpc>
                <a:spcPts val="3186"/>
              </a:lnSpc>
            </a:pPr>
            <a:r>
              <a:rPr lang="en-US" sz="2276" b="true">
                <a:solidFill>
                  <a:srgbClr val="017FA4"/>
                </a:solidFill>
                <a:latin typeface="JetBrains Mono Bold"/>
                <a:ea typeface="JetBrains Mono Bold"/>
                <a:cs typeface="JetBrains Mono Bold"/>
                <a:sym typeface="JetBrains Mono Bold"/>
              </a:rPr>
              <a:t>Solution:</a:t>
            </a:r>
            <a:r>
              <a:rPr lang="en-US" sz="2276">
                <a:solidFill>
                  <a:srgbClr val="100F0D"/>
                </a:solidFill>
                <a:latin typeface="JetBrains Mono"/>
                <a:ea typeface="JetBrains Mono"/>
                <a:cs typeface="JetBrains Mono"/>
                <a:sym typeface="JetBrains Mono"/>
              </a:rPr>
              <a:t> </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moving send_alert into a background thread/subprocess</a:t>
            </a:r>
          </a:p>
          <a:p>
            <a:pPr algn="l" marL="491416" indent="-245708" lvl="1">
              <a:lnSpc>
                <a:spcPts val="3186"/>
              </a:lnSpc>
              <a:buFont typeface="Arial"/>
              <a:buChar char="•"/>
            </a:pPr>
            <a:r>
              <a:rPr lang="en-US" sz="2276">
                <a:solidFill>
                  <a:srgbClr val="100F0D"/>
                </a:solidFill>
                <a:latin typeface="JetBrains Mono"/>
                <a:ea typeface="JetBrains Mono"/>
                <a:cs typeface="JetBrains Mono"/>
                <a:sym typeface="JetBrains Mono"/>
              </a:rPr>
              <a:t>Enabled smooth real-time tracking while alerts are sent asynchronously</a:t>
            </a:r>
          </a:p>
          <a:p>
            <a:pPr algn="l">
              <a:lnSpc>
                <a:spcPts val="3186"/>
              </a:lnSpc>
              <a:spcBef>
                <a:spcPct val="0"/>
              </a:spcBef>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053578" y="1946612"/>
            <a:ext cx="7010281" cy="1557019"/>
          </a:xfrm>
          <a:prstGeom prst="rect">
            <a:avLst/>
          </a:prstGeom>
        </p:spPr>
        <p:txBody>
          <a:bodyPr anchor="t" rtlCol="false" tIns="0" lIns="0" bIns="0" rIns="0">
            <a:spAutoFit/>
          </a:bodyPr>
          <a:lstStyle/>
          <a:p>
            <a:pPr algn="l">
              <a:lnSpc>
                <a:spcPts val="12880"/>
              </a:lnSpc>
            </a:pPr>
            <a:r>
              <a:rPr lang="en-US" sz="9200" b="true">
                <a:solidFill>
                  <a:srgbClr val="100F0D"/>
                </a:solidFill>
                <a:latin typeface="JetBrains Mono Bold"/>
                <a:ea typeface="JetBrains Mono Bold"/>
                <a:cs typeface="JetBrains Mono Bold"/>
                <a:sym typeface="JetBrains Mono Bold"/>
              </a:rPr>
              <a:t>Conclusion</a:t>
            </a:r>
          </a:p>
        </p:txBody>
      </p:sp>
      <p:sp>
        <p:nvSpPr>
          <p:cNvPr name="Freeform 5" id="5"/>
          <p:cNvSpPr/>
          <p:nvPr/>
        </p:nvSpPr>
        <p:spPr>
          <a:xfrm flipH="false" flipV="false" rot="0">
            <a:off x="14251957" y="5895320"/>
            <a:ext cx="3371805" cy="3553945"/>
          </a:xfrm>
          <a:custGeom>
            <a:avLst/>
            <a:gdLst/>
            <a:ahLst/>
            <a:cxnLst/>
            <a:rect r="r" b="b" t="t" l="l"/>
            <a:pathLst>
              <a:path h="3553945" w="3371805">
                <a:moveTo>
                  <a:pt x="0" y="0"/>
                </a:moveTo>
                <a:lnTo>
                  <a:pt x="3371806" y="0"/>
                </a:lnTo>
                <a:lnTo>
                  <a:pt x="3371806" y="3553945"/>
                </a:lnTo>
                <a:lnTo>
                  <a:pt x="0" y="35539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097083">
            <a:off x="-2603252" y="-4018809"/>
            <a:ext cx="4243187" cy="12254691"/>
          </a:xfrm>
          <a:custGeom>
            <a:avLst/>
            <a:gdLst/>
            <a:ahLst/>
            <a:cxnLst/>
            <a:rect r="r" b="b" t="t" l="l"/>
            <a:pathLst>
              <a:path h="12254691" w="4243187">
                <a:moveTo>
                  <a:pt x="0" y="0"/>
                </a:moveTo>
                <a:lnTo>
                  <a:pt x="4243186" y="0"/>
                </a:lnTo>
                <a:lnTo>
                  <a:pt x="4243186" y="12254691"/>
                </a:lnTo>
                <a:lnTo>
                  <a:pt x="0" y="122546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018548" y="3886383"/>
            <a:ext cx="11899017" cy="4789805"/>
          </a:xfrm>
          <a:prstGeom prst="rect">
            <a:avLst/>
          </a:prstGeom>
        </p:spPr>
        <p:txBody>
          <a:bodyPr anchor="t" rtlCol="false" tIns="0" lIns="0" bIns="0" rIns="0">
            <a:spAutoFit/>
          </a:bodyPr>
          <a:lstStyle/>
          <a:p>
            <a:pPr algn="l">
              <a:lnSpc>
                <a:spcPts val="3219"/>
              </a:lnSpc>
              <a:spcBef>
                <a:spcPct val="0"/>
              </a:spcBef>
            </a:pPr>
          </a:p>
          <a:p>
            <a:pPr algn="l" marL="496569" indent="-248284" lvl="1">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DEVELOPED A HANDS-FREE SMART LOCK USING LOCAL FACIAL RECOGNITION AND FACENET EMBEDDINGS</a:t>
            </a:r>
          </a:p>
          <a:p>
            <a:pPr algn="l" marL="496569" indent="-248284" lvl="1">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ACHIEVED 97.4% ACCURACY WITH LOW FALSE REJECTION (1.9%) AND FALSE ACCEPTANCE (0.7%) RATES</a:t>
            </a:r>
          </a:p>
          <a:p>
            <a:pPr algn="l" marL="496569" indent="-248284" lvl="1">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IMPLEMENTED MULTI-LAYER ANTI-SPOOFING USING:</a:t>
            </a:r>
          </a:p>
          <a:p>
            <a:pPr algn="l" marL="993138" indent="-331046" lvl="2">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BLINK DETECTION</a:t>
            </a:r>
          </a:p>
          <a:p>
            <a:pPr algn="l" marL="993138" indent="-331046" lvl="2">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3D HEAD TRACKING</a:t>
            </a:r>
          </a:p>
          <a:p>
            <a:pPr algn="l" marL="496569" indent="-248284" lvl="1">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ACHIEVED 100% DETECTION AGAINST PHOTO/SCREEN SPOOFING ATTACKS</a:t>
            </a:r>
          </a:p>
          <a:p>
            <a:pPr algn="l" marL="496569" indent="-248284" lvl="1">
              <a:lnSpc>
                <a:spcPts val="3219"/>
              </a:lnSpc>
              <a:spcBef>
                <a:spcPct val="0"/>
              </a:spcBef>
              <a:buFont typeface="Arial"/>
              <a:buChar char="•"/>
            </a:pPr>
            <a:r>
              <a:rPr lang="en-US" sz="2299">
                <a:solidFill>
                  <a:srgbClr val="100F0D"/>
                </a:solidFill>
                <a:latin typeface="JetBrains Mono"/>
                <a:ea typeface="JetBrains Mono"/>
                <a:cs typeface="JetBrains Mono"/>
                <a:sym typeface="JetBrains Mono"/>
              </a:rPr>
              <a:t>ADDED ADAPTIVE AUTO-LEARNING, REAL-TIME ALERTS, AND NIGHT GUARD SECURITY MODE</a:t>
            </a:r>
          </a:p>
          <a:p>
            <a:pPr algn="l">
              <a:lnSpc>
                <a:spcPts val="3219"/>
              </a:lnSpc>
              <a:spcBef>
                <a:spcPct val="0"/>
              </a:spcBef>
            </a:pPr>
          </a:p>
        </p:txBody>
      </p:sp>
      <p:sp>
        <p:nvSpPr>
          <p:cNvPr name="Freeform 8" id="8"/>
          <p:cNvSpPr/>
          <p:nvPr/>
        </p:nvSpPr>
        <p:spPr>
          <a:xfrm flipH="false" flipV="false" rot="-6698890">
            <a:off x="-5292288" y="-1894979"/>
            <a:ext cx="4243187" cy="12254691"/>
          </a:xfrm>
          <a:custGeom>
            <a:avLst/>
            <a:gdLst/>
            <a:ahLst/>
            <a:cxnLst/>
            <a:rect r="r" b="b" t="t" l="l"/>
            <a:pathLst>
              <a:path h="12254691" w="4243187">
                <a:moveTo>
                  <a:pt x="0" y="0"/>
                </a:moveTo>
                <a:lnTo>
                  <a:pt x="4243187" y="0"/>
                </a:lnTo>
                <a:lnTo>
                  <a:pt x="4243187" y="12254691"/>
                </a:lnTo>
                <a:lnTo>
                  <a:pt x="0" y="122546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4679874">
            <a:off x="12041164" y="-2970685"/>
            <a:ext cx="5272523" cy="7998770"/>
          </a:xfrm>
          <a:custGeom>
            <a:avLst/>
            <a:gdLst/>
            <a:ahLst/>
            <a:cxnLst/>
            <a:rect r="r" b="b" t="t" l="l"/>
            <a:pathLst>
              <a:path h="7998770" w="5272523">
                <a:moveTo>
                  <a:pt x="0" y="0"/>
                </a:moveTo>
                <a:lnTo>
                  <a:pt x="5272523" y="0"/>
                </a:lnTo>
                <a:lnTo>
                  <a:pt x="5272523" y="7998770"/>
                </a:lnTo>
                <a:lnTo>
                  <a:pt x="0" y="79987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5548796">
            <a:off x="20104440" y="-6002798"/>
            <a:ext cx="6415752" cy="18529247"/>
          </a:xfrm>
          <a:custGeom>
            <a:avLst/>
            <a:gdLst/>
            <a:ahLst/>
            <a:cxnLst/>
            <a:rect r="r" b="b" t="t" l="l"/>
            <a:pathLst>
              <a:path h="18529247" w="6415752">
                <a:moveTo>
                  <a:pt x="0" y="0"/>
                </a:moveTo>
                <a:lnTo>
                  <a:pt x="6415752" y="0"/>
                </a:lnTo>
                <a:lnTo>
                  <a:pt x="6415752" y="18529247"/>
                </a:lnTo>
                <a:lnTo>
                  <a:pt x="0" y="185292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22055" y="2263702"/>
            <a:ext cx="13843890" cy="7347735"/>
            <a:chOff x="0" y="0"/>
            <a:chExt cx="18458519" cy="9796981"/>
          </a:xfrm>
        </p:grpSpPr>
        <p:sp>
          <p:nvSpPr>
            <p:cNvPr name="Freeform 3" id="3"/>
            <p:cNvSpPr/>
            <p:nvPr/>
          </p:nvSpPr>
          <p:spPr>
            <a:xfrm flipH="false" flipV="false" rot="0">
              <a:off x="0" y="0"/>
              <a:ext cx="9796981" cy="9796981"/>
            </a:xfrm>
            <a:custGeom>
              <a:avLst/>
              <a:gdLst/>
              <a:ahLst/>
              <a:cxnLst/>
              <a:rect r="r" b="b" t="t" l="l"/>
              <a:pathLst>
                <a:path h="9796981" w="9796981">
                  <a:moveTo>
                    <a:pt x="0" y="0"/>
                  </a:moveTo>
                  <a:lnTo>
                    <a:pt x="9796981" y="0"/>
                  </a:lnTo>
                  <a:lnTo>
                    <a:pt x="9796981" y="9796981"/>
                  </a:lnTo>
                  <a:lnTo>
                    <a:pt x="0" y="9796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661539" y="0"/>
              <a:ext cx="9796981" cy="9796981"/>
            </a:xfrm>
            <a:custGeom>
              <a:avLst/>
              <a:gdLst/>
              <a:ahLst/>
              <a:cxnLst/>
              <a:rect r="r" b="b" t="t" l="l"/>
              <a:pathLst>
                <a:path h="9796981" w="9796981">
                  <a:moveTo>
                    <a:pt x="0" y="0"/>
                  </a:moveTo>
                  <a:lnTo>
                    <a:pt x="9796980" y="0"/>
                  </a:lnTo>
                  <a:lnTo>
                    <a:pt x="9796980" y="9796981"/>
                  </a:lnTo>
                  <a:lnTo>
                    <a:pt x="0" y="9796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aphicFrame>
        <p:nvGraphicFramePr>
          <p:cNvPr name="Object 5" id="5"/>
          <p:cNvGraphicFramePr/>
          <p:nvPr/>
        </p:nvGraphicFramePr>
        <p:xfrm>
          <a:off x="2974101" y="2794319"/>
          <a:ext cx="7543800" cy="3143250"/>
        </p:xfrm>
        <a:graphic>
          <a:graphicData uri="http://schemas.openxmlformats.org/presentationml/2006/ole">
            <p:oleObj imgW="9042400" imgH="4648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6" id="6"/>
          <p:cNvSpPr txBox="true"/>
          <p:nvPr/>
        </p:nvSpPr>
        <p:spPr>
          <a:xfrm rot="0">
            <a:off x="4162830" y="933450"/>
            <a:ext cx="9962339" cy="887095"/>
          </a:xfrm>
          <a:prstGeom prst="rect">
            <a:avLst/>
          </a:prstGeom>
        </p:spPr>
        <p:txBody>
          <a:bodyPr anchor="t" rtlCol="false" tIns="0" lIns="0" bIns="0" rIns="0">
            <a:spAutoFit/>
          </a:bodyPr>
          <a:lstStyle/>
          <a:p>
            <a:pPr algn="ctr">
              <a:lnSpc>
                <a:spcPts val="7279"/>
              </a:lnSpc>
              <a:spcBef>
                <a:spcPct val="0"/>
              </a:spcBef>
            </a:pPr>
            <a:r>
              <a:rPr lang="en-US" b="true" sz="5199">
                <a:solidFill>
                  <a:srgbClr val="000000"/>
                </a:solidFill>
                <a:latin typeface="Canva Sans Bold"/>
                <a:ea typeface="Canva Sans Bold"/>
                <a:cs typeface="Canva Sans Bold"/>
                <a:sym typeface="Canva Sans Bold"/>
              </a:rPr>
              <a:t>Contribution :)</a:t>
            </a:r>
          </a:p>
        </p:txBody>
      </p:sp>
    </p:spTree>
  </p:cSld>
  <p:clrMapOvr>
    <a:masterClrMapping/>
  </p:clrMapOvr>
  <p:transition spd="slow">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3024069"/>
            <a:ext cx="18288000" cy="4123113"/>
          </a:xfrm>
          <a:custGeom>
            <a:avLst/>
            <a:gdLst/>
            <a:ahLst/>
            <a:cxnLst/>
            <a:rect r="r" b="b" t="t" l="l"/>
            <a:pathLst>
              <a:path h="4123113" w="18288000">
                <a:moveTo>
                  <a:pt x="0" y="4123112"/>
                </a:moveTo>
                <a:lnTo>
                  <a:pt x="18288000" y="4123112"/>
                </a:lnTo>
                <a:lnTo>
                  <a:pt x="18288000" y="0"/>
                </a:lnTo>
                <a:lnTo>
                  <a:pt x="0" y="0"/>
                </a:lnTo>
                <a:lnTo>
                  <a:pt x="0" y="412311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9203546"/>
            <a:ext cx="18288000" cy="4123113"/>
          </a:xfrm>
          <a:custGeom>
            <a:avLst/>
            <a:gdLst/>
            <a:ahLst/>
            <a:cxnLst/>
            <a:rect r="r" b="b" t="t" l="l"/>
            <a:pathLst>
              <a:path h="4123113" w="18288000">
                <a:moveTo>
                  <a:pt x="0" y="0"/>
                </a:moveTo>
                <a:lnTo>
                  <a:pt x="18288000" y="0"/>
                </a:lnTo>
                <a:lnTo>
                  <a:pt x="18288000" y="4123113"/>
                </a:lnTo>
                <a:lnTo>
                  <a:pt x="0" y="41231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722404" y="-1413548"/>
            <a:ext cx="6294149" cy="4114800"/>
          </a:xfrm>
          <a:custGeom>
            <a:avLst/>
            <a:gdLst/>
            <a:ahLst/>
            <a:cxnLst/>
            <a:rect r="r" b="b" t="t" l="l"/>
            <a:pathLst>
              <a:path h="4114800" w="6294149">
                <a:moveTo>
                  <a:pt x="0" y="0"/>
                </a:moveTo>
                <a:lnTo>
                  <a:pt x="6294149" y="0"/>
                </a:lnTo>
                <a:lnTo>
                  <a:pt x="629414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771591" y="6664510"/>
            <a:ext cx="1516409" cy="4379521"/>
          </a:xfrm>
          <a:custGeom>
            <a:avLst/>
            <a:gdLst/>
            <a:ahLst/>
            <a:cxnLst/>
            <a:rect r="r" b="b" t="t" l="l"/>
            <a:pathLst>
              <a:path h="4379521" w="1516409">
                <a:moveTo>
                  <a:pt x="0" y="0"/>
                </a:moveTo>
                <a:lnTo>
                  <a:pt x="1516409" y="0"/>
                </a:lnTo>
                <a:lnTo>
                  <a:pt x="1516409" y="4379520"/>
                </a:lnTo>
                <a:lnTo>
                  <a:pt x="0" y="4379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8798309" y="7200900"/>
            <a:ext cx="2712339" cy="4114800"/>
          </a:xfrm>
          <a:custGeom>
            <a:avLst/>
            <a:gdLst/>
            <a:ahLst/>
            <a:cxnLst/>
            <a:rect r="r" b="b" t="t" l="l"/>
            <a:pathLst>
              <a:path h="4114800" w="2712339">
                <a:moveTo>
                  <a:pt x="0" y="0"/>
                </a:moveTo>
                <a:lnTo>
                  <a:pt x="2712339" y="0"/>
                </a:lnTo>
                <a:lnTo>
                  <a:pt x="271233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312593" y="0"/>
            <a:ext cx="8975407" cy="10287000"/>
          </a:xfrm>
          <a:custGeom>
            <a:avLst/>
            <a:gdLst/>
            <a:ahLst/>
            <a:cxnLst/>
            <a:rect r="r" b="b" t="t" l="l"/>
            <a:pathLst>
              <a:path h="10287000" w="8975407">
                <a:moveTo>
                  <a:pt x="0" y="0"/>
                </a:moveTo>
                <a:lnTo>
                  <a:pt x="8975407" y="0"/>
                </a:lnTo>
                <a:lnTo>
                  <a:pt x="8975407" y="10287000"/>
                </a:lnTo>
                <a:lnTo>
                  <a:pt x="0" y="10287000"/>
                </a:lnTo>
                <a:lnTo>
                  <a:pt x="0" y="0"/>
                </a:lnTo>
                <a:close/>
              </a:path>
            </a:pathLst>
          </a:custGeom>
          <a:blipFill>
            <a:blip r:embed="rId10"/>
            <a:stretch>
              <a:fillRect l="0" t="0" r="0" b="0"/>
            </a:stretch>
          </a:blipFill>
        </p:spPr>
      </p:sp>
      <p:sp>
        <p:nvSpPr>
          <p:cNvPr name="Freeform 8" id="8"/>
          <p:cNvSpPr/>
          <p:nvPr/>
        </p:nvSpPr>
        <p:spPr>
          <a:xfrm flipH="false" flipV="false" rot="0">
            <a:off x="-495832" y="-3797070"/>
            <a:ext cx="12323397" cy="11091058"/>
          </a:xfrm>
          <a:custGeom>
            <a:avLst/>
            <a:gdLst/>
            <a:ahLst/>
            <a:cxnLst/>
            <a:rect r="r" b="b" t="t" l="l"/>
            <a:pathLst>
              <a:path h="11091058" w="12323397">
                <a:moveTo>
                  <a:pt x="0" y="0"/>
                </a:moveTo>
                <a:lnTo>
                  <a:pt x="12323397" y="0"/>
                </a:lnTo>
                <a:lnTo>
                  <a:pt x="12323397" y="11091058"/>
                </a:lnTo>
                <a:lnTo>
                  <a:pt x="0" y="110910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9140459">
            <a:off x="-163246" y="6368987"/>
            <a:ext cx="4742847" cy="7195217"/>
          </a:xfrm>
          <a:custGeom>
            <a:avLst/>
            <a:gdLst/>
            <a:ahLst/>
            <a:cxnLst/>
            <a:rect r="r" b="b" t="t" l="l"/>
            <a:pathLst>
              <a:path h="7195217" w="4742847">
                <a:moveTo>
                  <a:pt x="0" y="0"/>
                </a:moveTo>
                <a:lnTo>
                  <a:pt x="4742847" y="0"/>
                </a:lnTo>
                <a:lnTo>
                  <a:pt x="4742847" y="7195217"/>
                </a:lnTo>
                <a:lnTo>
                  <a:pt x="0" y="71952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942975" y="1819256"/>
            <a:ext cx="11148391" cy="1882786"/>
          </a:xfrm>
          <a:prstGeom prst="rect">
            <a:avLst/>
          </a:prstGeom>
        </p:spPr>
        <p:txBody>
          <a:bodyPr anchor="t" rtlCol="false" tIns="0" lIns="0" bIns="0" rIns="0">
            <a:spAutoFit/>
          </a:bodyPr>
          <a:lstStyle/>
          <a:p>
            <a:pPr algn="l">
              <a:lnSpc>
                <a:spcPts val="15399"/>
              </a:lnSpc>
            </a:pPr>
            <a:r>
              <a:rPr lang="en-US" sz="10999" b="true">
                <a:solidFill>
                  <a:srgbClr val="FFFFFF"/>
                </a:solidFill>
                <a:latin typeface="JetBrains Mono Bold"/>
                <a:ea typeface="JetBrains Mono Bold"/>
                <a:cs typeface="JetBrains Mono Bold"/>
                <a:sym typeface="JetBrains Mono Bold"/>
              </a:rPr>
              <a:t>Thank You!</a:t>
            </a:r>
          </a:p>
        </p:txBody>
      </p:sp>
      <p:sp>
        <p:nvSpPr>
          <p:cNvPr name="Freeform 11" id="11"/>
          <p:cNvSpPr/>
          <p:nvPr/>
        </p:nvSpPr>
        <p:spPr>
          <a:xfrm flipH="false" flipV="false" rot="0">
            <a:off x="-495832" y="6876944"/>
            <a:ext cx="4389758" cy="5345215"/>
          </a:xfrm>
          <a:custGeom>
            <a:avLst/>
            <a:gdLst/>
            <a:ahLst/>
            <a:cxnLst/>
            <a:rect r="r" b="b" t="t" l="l"/>
            <a:pathLst>
              <a:path h="5345215" w="4389758">
                <a:moveTo>
                  <a:pt x="0" y="0"/>
                </a:moveTo>
                <a:lnTo>
                  <a:pt x="4389758" y="0"/>
                </a:lnTo>
                <a:lnTo>
                  <a:pt x="4389758" y="5345215"/>
                </a:lnTo>
                <a:lnTo>
                  <a:pt x="0" y="5345215"/>
                </a:lnTo>
                <a:lnTo>
                  <a:pt x="0" y="0"/>
                </a:lnTo>
                <a:close/>
              </a:path>
            </a:pathLst>
          </a:custGeom>
          <a:blipFill>
            <a:blip r:embed="rId1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DAHJTfZodn8</dc:identifier>
  <dcterms:modified xsi:type="dcterms:W3CDTF">2011-08-01T06:04:30Z</dcterms:modified>
  <cp:revision>1</cp:revision>
  <dc:title>Ai_presentation</dc:title>
</cp:coreProperties>
</file>